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D096F-77AF-4477-927B-26032D3F344E}" v="23" dt="2026-10-15T03:48:41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주우 박" userId="1f4c2a5d299d7c76" providerId="LiveId" clId="{39207DCA-2B59-4B01-B823-0C0DAFBB4732}"/>
    <pc:docChg chg="undo custSel modSld modMainMaster">
      <pc:chgData name="주우 박" userId="1f4c2a5d299d7c76" providerId="LiveId" clId="{39207DCA-2B59-4B01-B823-0C0DAFBB4732}" dt="2026-10-15T05:01:59.366" v="405" actId="20577"/>
      <pc:docMkLst>
        <pc:docMk/>
      </pc:docMkLst>
      <pc:sldChg chg="modSp mod modTransition modNotesTx">
        <pc:chgData name="주우 박" userId="1f4c2a5d299d7c76" providerId="LiveId" clId="{39207DCA-2B59-4B01-B823-0C0DAFBB4732}" dt="2026-10-15T03:48:41.451" v="359"/>
        <pc:sldMkLst>
          <pc:docMk/>
          <pc:sldMk cId="0" sldId="256"/>
        </pc:sldMkLst>
        <pc:spChg chg="mod">
          <ac:chgData name="주우 박" userId="1f4c2a5d299d7c76" providerId="LiveId" clId="{39207DCA-2B59-4B01-B823-0C0DAFBB4732}" dt="2026-10-15T00:01:23.545" v="37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mod modTransition modNotesTx">
        <pc:chgData name="주우 박" userId="1f4c2a5d299d7c76" providerId="LiveId" clId="{39207DCA-2B59-4B01-B823-0C0DAFBB4732}" dt="2026-10-15T03:48:41.451" v="359"/>
        <pc:sldMkLst>
          <pc:docMk/>
          <pc:sldMk cId="0" sldId="257"/>
        </pc:sldMkLst>
        <pc:picChg chg="mod">
          <ac:chgData name="주우 박" userId="1f4c2a5d299d7c76" providerId="LiveId" clId="{39207DCA-2B59-4B01-B823-0C0DAFBB4732}" dt="2026-10-15T00:02:09.242" v="39" actId="1036"/>
          <ac:picMkLst>
            <pc:docMk/>
            <pc:sldMk cId="0" sldId="257"/>
            <ac:picMk id="4" creationId="{00000000-0000-0000-0000-000000000000}"/>
          </ac:picMkLst>
        </pc:picChg>
      </pc:sldChg>
      <pc:sldChg chg="modTransition modNotesTx">
        <pc:chgData name="주우 박" userId="1f4c2a5d299d7c76" providerId="LiveId" clId="{39207DCA-2B59-4B01-B823-0C0DAFBB4732}" dt="2026-10-15T03:48:41.451" v="359"/>
        <pc:sldMkLst>
          <pc:docMk/>
          <pc:sldMk cId="0" sldId="258"/>
        </pc:sldMkLst>
      </pc:sldChg>
      <pc:sldChg chg="modTransition modNotesTx">
        <pc:chgData name="주우 박" userId="1f4c2a5d299d7c76" providerId="LiveId" clId="{39207DCA-2B59-4B01-B823-0C0DAFBB4732}" dt="2026-10-15T03:48:41.451" v="359"/>
        <pc:sldMkLst>
          <pc:docMk/>
          <pc:sldMk cId="0" sldId="259"/>
        </pc:sldMkLst>
      </pc:sldChg>
      <pc:sldChg chg="modTransition modNotesTx">
        <pc:chgData name="주우 박" userId="1f4c2a5d299d7c76" providerId="LiveId" clId="{39207DCA-2B59-4B01-B823-0C0DAFBB4732}" dt="2026-10-15T03:48:41.451" v="359"/>
        <pc:sldMkLst>
          <pc:docMk/>
          <pc:sldMk cId="0" sldId="260"/>
        </pc:sldMkLst>
      </pc:sldChg>
      <pc:sldChg chg="modSp mod modTransition modNotesTx">
        <pc:chgData name="주우 박" userId="1f4c2a5d299d7c76" providerId="LiveId" clId="{39207DCA-2B59-4B01-B823-0C0DAFBB4732}" dt="2026-10-15T03:54:00.371" v="373" actId="20577"/>
        <pc:sldMkLst>
          <pc:docMk/>
          <pc:sldMk cId="0" sldId="261"/>
        </pc:sldMkLst>
        <pc:spChg chg="mod">
          <ac:chgData name="주우 박" userId="1f4c2a5d299d7c76" providerId="LiveId" clId="{39207DCA-2B59-4B01-B823-0C0DAFBB4732}" dt="2026-10-15T03:54:00.371" v="373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주우 박" userId="1f4c2a5d299d7c76" providerId="LiveId" clId="{39207DCA-2B59-4B01-B823-0C0DAFBB4732}" dt="2026-10-15T00:06:47.719" v="87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 mod modTransition modNotesTx">
        <pc:chgData name="주우 박" userId="1f4c2a5d299d7c76" providerId="LiveId" clId="{39207DCA-2B59-4B01-B823-0C0DAFBB4732}" dt="2026-10-15T03:54:06.043" v="387" actId="20577"/>
        <pc:sldMkLst>
          <pc:docMk/>
          <pc:sldMk cId="0" sldId="262"/>
        </pc:sldMkLst>
        <pc:spChg chg="mod">
          <ac:chgData name="주우 박" userId="1f4c2a5d299d7c76" providerId="LiveId" clId="{39207DCA-2B59-4B01-B823-0C0DAFBB4732}" dt="2026-10-15T03:54:06.043" v="387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 modTransition modNotesTx">
        <pc:chgData name="주우 박" userId="1f4c2a5d299d7c76" providerId="LiveId" clId="{39207DCA-2B59-4B01-B823-0C0DAFBB4732}" dt="2026-10-15T03:54:13.702" v="401" actId="20577"/>
        <pc:sldMkLst>
          <pc:docMk/>
          <pc:sldMk cId="0" sldId="263"/>
        </pc:sldMkLst>
        <pc:spChg chg="mod">
          <ac:chgData name="주우 박" userId="1f4c2a5d299d7c76" providerId="LiveId" clId="{39207DCA-2B59-4B01-B823-0C0DAFBB4732}" dt="2026-10-15T03:54:13.702" v="401" actId="20577"/>
          <ac:spMkLst>
            <pc:docMk/>
            <pc:sldMk cId="0" sldId="263"/>
            <ac:spMk id="2" creationId="{00000000-0000-0000-0000-000000000000}"/>
          </ac:spMkLst>
        </pc:spChg>
      </pc:sldChg>
      <pc:sldChg chg="modTransition modNotesTx">
        <pc:chgData name="주우 박" userId="1f4c2a5d299d7c76" providerId="LiveId" clId="{39207DCA-2B59-4B01-B823-0C0DAFBB4732}" dt="2026-10-15T03:48:41.451" v="359"/>
        <pc:sldMkLst>
          <pc:docMk/>
          <pc:sldMk cId="0" sldId="264"/>
        </pc:sldMkLst>
      </pc:sldChg>
      <pc:sldChg chg="modSp mod modTransition modNotesTx">
        <pc:chgData name="주우 박" userId="1f4c2a5d299d7c76" providerId="LiveId" clId="{39207DCA-2B59-4B01-B823-0C0DAFBB4732}" dt="2026-10-15T05:01:59.366" v="405" actId="20577"/>
        <pc:sldMkLst>
          <pc:docMk/>
          <pc:sldMk cId="0" sldId="265"/>
        </pc:sldMkLst>
        <pc:spChg chg="mod">
          <ac:chgData name="주우 박" userId="1f4c2a5d299d7c76" providerId="LiveId" clId="{39207DCA-2B59-4B01-B823-0C0DAFBB4732}" dt="2026-10-15T05:01:59.366" v="405" actId="20577"/>
          <ac:spMkLst>
            <pc:docMk/>
            <pc:sldMk cId="0" sldId="265"/>
            <ac:spMk id="5" creationId="{00000000-0000-0000-0000-000000000000}"/>
          </ac:spMkLst>
        </pc:spChg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66"/>
        </pc:sldMkLst>
      </pc:sldChg>
      <pc:sldChg chg="modSp mod modTransition">
        <pc:chgData name="주우 박" userId="1f4c2a5d299d7c76" providerId="LiveId" clId="{39207DCA-2B59-4B01-B823-0C0DAFBB4732}" dt="2026-10-15T03:48:41.451" v="359"/>
        <pc:sldMkLst>
          <pc:docMk/>
          <pc:sldMk cId="0" sldId="267"/>
        </pc:sldMkLst>
        <pc:spChg chg="mod">
          <ac:chgData name="주우 박" userId="1f4c2a5d299d7c76" providerId="LiveId" clId="{39207DCA-2B59-4B01-B823-0C0DAFBB4732}" dt="2026-10-15T00:07:17.463" v="91" actId="20577"/>
          <ac:spMkLst>
            <pc:docMk/>
            <pc:sldMk cId="0" sldId="267"/>
            <ac:spMk id="6" creationId="{00000000-0000-0000-0000-000000000000}"/>
          </ac:spMkLst>
        </pc:spChg>
      </pc:sldChg>
      <pc:sldChg chg="modSp mod modTransition modNotesTx">
        <pc:chgData name="주우 박" userId="1f4c2a5d299d7c76" providerId="LiveId" clId="{39207DCA-2B59-4B01-B823-0C0DAFBB4732}" dt="2026-10-15T03:48:41.451" v="359"/>
        <pc:sldMkLst>
          <pc:docMk/>
          <pc:sldMk cId="0" sldId="268"/>
        </pc:sldMkLst>
        <pc:spChg chg="mod">
          <ac:chgData name="주우 박" userId="1f4c2a5d299d7c76" providerId="LiveId" clId="{39207DCA-2B59-4B01-B823-0C0DAFBB4732}" dt="2026-10-15T00:09:14.868" v="9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 mod modTransition modNotesTx">
        <pc:chgData name="주우 박" userId="1f4c2a5d299d7c76" providerId="LiveId" clId="{39207DCA-2B59-4B01-B823-0C0DAFBB4732}" dt="2026-10-15T03:48:41.451" v="359"/>
        <pc:sldMkLst>
          <pc:docMk/>
          <pc:sldMk cId="0" sldId="269"/>
        </pc:sldMkLst>
        <pc:spChg chg="mod">
          <ac:chgData name="주우 박" userId="1f4c2a5d299d7c76" providerId="LiveId" clId="{39207DCA-2B59-4B01-B823-0C0DAFBB4732}" dt="2026-10-15T00:09:34.243" v="97" actId="20577"/>
          <ac:spMkLst>
            <pc:docMk/>
            <pc:sldMk cId="0" sldId="269"/>
            <ac:spMk id="5" creationId="{00000000-0000-0000-0000-000000000000}"/>
          </ac:spMkLst>
        </pc:spChg>
      </pc:sldChg>
      <pc:sldChg chg="modSp mod modTransition modNotesTx">
        <pc:chgData name="주우 박" userId="1f4c2a5d299d7c76" providerId="LiveId" clId="{39207DCA-2B59-4B01-B823-0C0DAFBB4732}" dt="2026-10-15T03:48:41.451" v="359"/>
        <pc:sldMkLst>
          <pc:docMk/>
          <pc:sldMk cId="0" sldId="270"/>
        </pc:sldMkLst>
        <pc:spChg chg="mod">
          <ac:chgData name="주우 박" userId="1f4c2a5d299d7c76" providerId="LiveId" clId="{39207DCA-2B59-4B01-B823-0C0DAFBB4732}" dt="2026-10-15T02:57:05.347" v="269" actId="1036"/>
          <ac:spMkLst>
            <pc:docMk/>
            <pc:sldMk cId="0" sldId="270"/>
            <ac:spMk id="5" creationId="{00000000-0000-0000-0000-000000000000}"/>
          </ac:spMkLst>
        </pc:spChg>
      </pc:sldChg>
      <pc:sldChg chg="addSp delSp modSp mod modTransition modNotesTx">
        <pc:chgData name="주우 박" userId="1f4c2a5d299d7c76" providerId="LiveId" clId="{39207DCA-2B59-4B01-B823-0C0DAFBB4732}" dt="2026-10-15T03:48:41.451" v="359"/>
        <pc:sldMkLst>
          <pc:docMk/>
          <pc:sldMk cId="0" sldId="271"/>
        </pc:sldMkLst>
        <pc:graphicFrameChg chg="mod modGraphic">
          <ac:chgData name="주우 박" userId="1f4c2a5d299d7c76" providerId="LiveId" clId="{39207DCA-2B59-4B01-B823-0C0DAFBB4732}" dt="2026-10-15T02:55:30.468" v="233" actId="14100"/>
          <ac:graphicFrameMkLst>
            <pc:docMk/>
            <pc:sldMk cId="0" sldId="271"/>
            <ac:graphicFrameMk id="5" creationId="{00000000-0000-0000-0000-000000000000}"/>
          </ac:graphicFrameMkLst>
        </pc:graphicFrameChg>
        <pc:picChg chg="del">
          <ac:chgData name="주우 박" userId="1f4c2a5d299d7c76" providerId="LiveId" clId="{39207DCA-2B59-4B01-B823-0C0DAFBB4732}" dt="2026-10-15T02:54:46.431" v="223" actId="478"/>
          <ac:picMkLst>
            <pc:docMk/>
            <pc:sldMk cId="0" sldId="271"/>
            <ac:picMk id="4" creationId="{00000000-0000-0000-0000-000000000000}"/>
          </ac:picMkLst>
        </pc:picChg>
        <pc:picChg chg="add mod">
          <ac:chgData name="주우 박" userId="1f4c2a5d299d7c76" providerId="LiveId" clId="{39207DCA-2B59-4B01-B823-0C0DAFBB4732}" dt="2026-10-15T02:55:25.323" v="232" actId="1076"/>
          <ac:picMkLst>
            <pc:docMk/>
            <pc:sldMk cId="0" sldId="271"/>
            <ac:picMk id="6" creationId="{A9F22243-C7B9-F92A-0637-EF0D00888D03}"/>
          </ac:picMkLst>
        </pc:picChg>
      </pc:sldChg>
      <pc:sldChg chg="delSp modSp mod modTransition modNotesTx">
        <pc:chgData name="주우 박" userId="1f4c2a5d299d7c76" providerId="LiveId" clId="{39207DCA-2B59-4B01-B823-0C0DAFBB4732}" dt="2026-10-15T03:48:41.451" v="359"/>
        <pc:sldMkLst>
          <pc:docMk/>
          <pc:sldMk cId="0" sldId="272"/>
        </pc:sldMkLst>
        <pc:graphicFrameChg chg="modGraphic">
          <ac:chgData name="주우 박" userId="1f4c2a5d299d7c76" providerId="LiveId" clId="{39207DCA-2B59-4B01-B823-0C0DAFBB4732}" dt="2026-10-15T02:55:58.837" v="264" actId="20577"/>
          <ac:graphicFrameMkLst>
            <pc:docMk/>
            <pc:sldMk cId="0" sldId="272"/>
            <ac:graphicFrameMk id="4" creationId="{00000000-0000-0000-0000-000000000000}"/>
          </ac:graphicFrameMkLst>
        </pc:graphicFrameChg>
        <pc:picChg chg="del">
          <ac:chgData name="주우 박" userId="1f4c2a5d299d7c76" providerId="LiveId" clId="{39207DCA-2B59-4B01-B823-0C0DAFBB4732}" dt="2026-10-15T02:55:59.599" v="265" actId="478"/>
          <ac:picMkLst>
            <pc:docMk/>
            <pc:sldMk cId="0" sldId="272"/>
            <ac:picMk id="5" creationId="{00000000-0000-0000-0000-000000000000}"/>
          </ac:picMkLst>
        </pc:picChg>
      </pc:sldChg>
      <pc:sldChg chg="modSp mod modTransition modNotesTx">
        <pc:chgData name="주우 박" userId="1f4c2a5d299d7c76" providerId="LiveId" clId="{39207DCA-2B59-4B01-B823-0C0DAFBB4732}" dt="2026-10-15T03:48:41.451" v="359"/>
        <pc:sldMkLst>
          <pc:docMk/>
          <pc:sldMk cId="0" sldId="273"/>
        </pc:sldMkLst>
        <pc:spChg chg="mod">
          <ac:chgData name="주우 박" userId="1f4c2a5d299d7c76" providerId="LiveId" clId="{39207DCA-2B59-4B01-B823-0C0DAFBB4732}" dt="2026-10-15T02:56:05.781" v="268" actId="6549"/>
          <ac:spMkLst>
            <pc:docMk/>
            <pc:sldMk cId="0" sldId="273"/>
            <ac:spMk id="8" creationId="{00000000-0000-0000-0000-000000000000}"/>
          </ac:spMkLst>
        </pc:spChg>
        <pc:spChg chg="mod">
          <ac:chgData name="주우 박" userId="1f4c2a5d299d7c76" providerId="LiveId" clId="{39207DCA-2B59-4B01-B823-0C0DAFBB4732}" dt="2026-10-15T03:38:29.933" v="356" actId="20577"/>
          <ac:spMkLst>
            <pc:docMk/>
            <pc:sldMk cId="0" sldId="273"/>
            <ac:spMk id="10" creationId="{00000000-0000-0000-0000-000000000000}"/>
          </ac:spMkLst>
        </pc:spChg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74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75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76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77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78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79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80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81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82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0" sldId="283"/>
        </pc:sldMkLst>
      </pc:sldChg>
      <pc:sldChg chg="modTransition">
        <pc:chgData name="주우 박" userId="1f4c2a5d299d7c76" providerId="LiveId" clId="{39207DCA-2B59-4B01-B823-0C0DAFBB4732}" dt="2026-10-15T03:48:41.451" v="359"/>
        <pc:sldMkLst>
          <pc:docMk/>
          <pc:sldMk cId="1820439777" sldId="284"/>
        </pc:sldMkLst>
      </pc:sldChg>
      <pc:sldMasterChg chg="modTransition modSldLayout">
        <pc:chgData name="주우 박" userId="1f4c2a5d299d7c76" providerId="LiveId" clId="{39207DCA-2B59-4B01-B823-0C0DAFBB4732}" dt="2026-10-15T03:48:41.451" v="359"/>
        <pc:sldMasterMkLst>
          <pc:docMk/>
          <pc:sldMasterMk cId="2209977519" sldId="2147483648"/>
        </pc:sldMasterMkLst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">
          <pc:chgData name="주우 박" userId="1f4c2a5d299d7c76" providerId="LiveId" clId="{39207DCA-2B59-4B01-B823-0C0DAFBB4732}" dt="2026-10-15T03:48:41.451" v="359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100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자기장이 </a:t>
            </a:r>
            <a:r>
              <a:rPr lang="en-US" altLang="ko-KR" dirty="0" err="1"/>
              <a:t>FeRh</a:t>
            </a:r>
            <a:r>
              <a:rPr lang="ko-KR" altLang="en-US" dirty="0"/>
              <a:t>의 반강자성</a:t>
            </a:r>
            <a:r>
              <a:rPr lang="en-US" altLang="ko-KR" dirty="0"/>
              <a:t>-</a:t>
            </a:r>
            <a:r>
              <a:rPr lang="ko-KR" altLang="en-US" dirty="0"/>
              <a:t>강자성 전이온도를 어떻게 움직이는지</a:t>
            </a:r>
            <a:r>
              <a:rPr lang="en-US" altLang="ko-KR" dirty="0"/>
              <a:t>, </a:t>
            </a:r>
            <a:r>
              <a:rPr lang="ko-KR" altLang="en-US" dirty="0"/>
              <a:t>몬테카를로 시뮬레이션으로 알아본 프로젝트입니다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먼저 </a:t>
            </a:r>
            <a:r>
              <a:rPr lang="ko-KR" altLang="ko-KR" dirty="0" err="1"/>
              <a:t>FeRh는</a:t>
            </a:r>
            <a:r>
              <a:rPr lang="ko-KR" altLang="ko-KR" dirty="0"/>
              <a:t> </a:t>
            </a:r>
            <a:r>
              <a:rPr lang="ko-KR" altLang="ko-KR" dirty="0" err="1"/>
              <a:t>Fe가</a:t>
            </a:r>
            <a:r>
              <a:rPr lang="ko-KR" altLang="ko-KR" dirty="0"/>
              <a:t> 꼭짓점에, </a:t>
            </a:r>
            <a:r>
              <a:rPr lang="ko-KR" altLang="ko-KR" dirty="0" err="1"/>
              <a:t>Rh가</a:t>
            </a:r>
            <a:r>
              <a:rPr lang="ko-KR" altLang="ko-KR" dirty="0"/>
              <a:t> 중심에 위치하는 B2 구조를 갖습니다.</a:t>
            </a:r>
            <a:br>
              <a:rPr lang="ko-KR" altLang="ko-KR" dirty="0"/>
            </a:br>
            <a:r>
              <a:rPr lang="ko-KR" altLang="ko-KR" dirty="0"/>
              <a:t>저온에서는 Fe 모멘트가 서로 반대 방향으로 정렬된 AFM 상태이고, 온도를 올리면 FM 상태로 전이하면서 </a:t>
            </a:r>
            <a:r>
              <a:rPr lang="ko-KR" altLang="ko-KR" dirty="0" err="1"/>
              <a:t>Rh에도</a:t>
            </a:r>
            <a:r>
              <a:rPr lang="ko-KR" altLang="ko-KR" dirty="0"/>
              <a:t> 자기모멘트가 생깁니다.</a:t>
            </a:r>
          </a:p>
          <a:p>
            <a:r>
              <a:rPr lang="ko-KR" altLang="ko-KR" dirty="0"/>
              <a:t>이 전이는 대략 상온 부근에서 일어나며, 앞으로 이 AFM–FM 전이온도를 \(</a:t>
            </a:r>
            <a:r>
              <a:rPr lang="ko-KR" altLang="ko-KR" dirty="0" err="1"/>
              <a:t>T_t</a:t>
            </a:r>
            <a:r>
              <a:rPr lang="ko-KR" altLang="ko-KR" dirty="0"/>
              <a:t>\)</a:t>
            </a:r>
            <a:r>
              <a:rPr lang="ko-KR" altLang="ko-KR" dirty="0" err="1"/>
              <a:t>라고</a:t>
            </a:r>
            <a:r>
              <a:rPr lang="ko-KR" altLang="ko-KR" dirty="0"/>
              <a:t> 부르겠습니다.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 err="1"/>
              <a:t>FeRh의</a:t>
            </a:r>
            <a:r>
              <a:rPr lang="ko-KR" altLang="ko-KR" dirty="0"/>
              <a:t> 중요한 특징은 이렇게 </a:t>
            </a:r>
            <a:r>
              <a:rPr lang="ko-KR" altLang="ko-KR" b="1" dirty="0"/>
              <a:t>온도에 따라 </a:t>
            </a:r>
            <a:r>
              <a:rPr lang="ko-KR" altLang="ko-KR" b="1" dirty="0" err="1"/>
              <a:t>AFM과</a:t>
            </a:r>
            <a:r>
              <a:rPr lang="ko-KR" altLang="ko-KR" b="1" dirty="0"/>
              <a:t> FM 상태를 전환할 수 있다는 것</a:t>
            </a:r>
            <a:r>
              <a:rPr lang="ko-KR" altLang="ko-KR" dirty="0"/>
              <a:t>입니다.</a:t>
            </a:r>
          </a:p>
          <a:p>
            <a:r>
              <a:rPr lang="ko-KR" altLang="ko-KR" dirty="0"/>
              <a:t>이 성질은 </a:t>
            </a:r>
            <a:r>
              <a:rPr lang="ko-KR" altLang="ko-KR" dirty="0" err="1"/>
              <a:t>열보조</a:t>
            </a:r>
            <a:r>
              <a:rPr lang="ko-KR" altLang="ko-KR" dirty="0"/>
              <a:t> 자기기록이나 반강자성 메모리, 자기 냉각과 같은 응용 가능성이 있는데, 실제로 이용하려면 단순히 전이가 존재하는 것보다 </a:t>
            </a:r>
            <a:r>
              <a:rPr lang="ko-KR" altLang="ko-KR" b="1" dirty="0"/>
              <a:t>원하는 온도에서 전이가 일어나도록 \(</a:t>
            </a:r>
            <a:r>
              <a:rPr lang="ko-KR" altLang="ko-KR" b="1" dirty="0" err="1"/>
              <a:t>T_t</a:t>
            </a:r>
            <a:r>
              <a:rPr lang="ko-KR" altLang="ko-KR" b="1" dirty="0"/>
              <a:t>\)</a:t>
            </a:r>
            <a:r>
              <a:rPr lang="ko-KR" altLang="ko-KR" b="1" dirty="0" err="1"/>
              <a:t>를</a:t>
            </a:r>
            <a:r>
              <a:rPr lang="ko-KR" altLang="ko-KR" b="1" dirty="0"/>
              <a:t> 조절하는 것이 중요합니다.</a:t>
            </a:r>
            <a:endParaRPr lang="ko-KR" altLang="ko-KR" dirty="0"/>
          </a:p>
          <a:p>
            <a:r>
              <a:rPr lang="ko-KR" altLang="ko-KR" dirty="0"/>
              <a:t>그래서 이번 학기의 최종 목표는 자기장뿐 아니라 </a:t>
            </a:r>
            <a:r>
              <a:rPr lang="ko-KR" altLang="ko-KR" b="1" dirty="0" err="1"/>
              <a:t>strain과</a:t>
            </a:r>
            <a:r>
              <a:rPr lang="ko-KR" altLang="ko-KR" b="1" dirty="0"/>
              <a:t> 박막 두께가 전이온도에 미치는 영향까지 모델링해서 실제 </a:t>
            </a:r>
            <a:r>
              <a:rPr lang="ko-KR" altLang="ko-KR" b="1" dirty="0" err="1"/>
              <a:t>FeRh</a:t>
            </a:r>
            <a:r>
              <a:rPr lang="ko-KR" altLang="ko-KR" b="1" dirty="0"/>
              <a:t> 박막과 연결해보는 것</a:t>
            </a:r>
            <a:r>
              <a:rPr lang="ko-KR" altLang="ko-KR" dirty="0"/>
              <a:t>입니다.</a:t>
            </a:r>
          </a:p>
          <a:p>
            <a:r>
              <a:rPr lang="ko-KR" altLang="ko-KR" dirty="0"/>
              <a:t>그중 이번 중간 프로젝트에서는 가장 단순하게 외부에서 조절할 수 있는 변수인 **자기장 \(</a:t>
            </a:r>
            <a:r>
              <a:rPr lang="ko-KR" altLang="ko-KR" dirty="0" err="1"/>
              <a:t>B</a:t>
            </a:r>
            <a:r>
              <a:rPr lang="ko-KR" altLang="ko-KR" dirty="0"/>
              <a:t>\)**</a:t>
            </a:r>
            <a:r>
              <a:rPr lang="ko-KR" altLang="ko-KR" dirty="0" err="1"/>
              <a:t>부터</a:t>
            </a:r>
            <a:r>
              <a:rPr lang="ko-KR" altLang="ko-KR" dirty="0"/>
              <a:t> 살펴봤습니다.</a:t>
            </a:r>
          </a:p>
          <a:p>
            <a:r>
              <a:rPr lang="ko-KR" altLang="ko-KR" dirty="0"/>
              <a:t>따라서 이번 질문은 명확합니다.</a:t>
            </a:r>
            <a:br>
              <a:rPr lang="ko-KR" altLang="ko-KR" dirty="0"/>
            </a:br>
            <a:r>
              <a:rPr lang="ko-KR" altLang="ko-KR" b="1" dirty="0"/>
              <a:t>“자기장이 변하면 </a:t>
            </a:r>
            <a:r>
              <a:rPr lang="ko-KR" altLang="ko-KR" b="1" dirty="0" err="1"/>
              <a:t>FeRh의</a:t>
            </a:r>
            <a:r>
              <a:rPr lang="ko-KR" altLang="ko-KR" b="1" dirty="0"/>
              <a:t> 전이온도 \(</a:t>
            </a:r>
            <a:r>
              <a:rPr lang="ko-KR" altLang="ko-KR" b="1" dirty="0" err="1"/>
              <a:t>T_t</a:t>
            </a:r>
            <a:r>
              <a:rPr lang="ko-KR" altLang="ko-KR" b="1" dirty="0"/>
              <a:t>\)는 어느 방향으로, 그리고 얼마나 변하는가?”</a:t>
            </a:r>
            <a:endParaRPr lang="ko-KR" altLang="ko-KR" dirty="0"/>
          </a:p>
          <a:p>
            <a:r>
              <a:rPr lang="ko-KR" altLang="ko-KR" dirty="0"/>
              <a:t>이번에는 실제 박막의 절대적인 \(</a:t>
            </a:r>
            <a:r>
              <a:rPr lang="ko-KR" altLang="ko-KR" dirty="0" err="1"/>
              <a:t>T_t</a:t>
            </a:r>
            <a:r>
              <a:rPr lang="ko-KR" altLang="ko-KR" dirty="0"/>
              <a:t>\)</a:t>
            </a:r>
            <a:r>
              <a:rPr lang="ko-KR" altLang="ko-KR" dirty="0" err="1"/>
              <a:t>를</a:t>
            </a:r>
            <a:r>
              <a:rPr lang="ko-KR" altLang="ko-KR" dirty="0"/>
              <a:t> 정확히 맞히는 것보다는 </a:t>
            </a:r>
            <a:r>
              <a:rPr lang="ko-KR" altLang="ko-KR" b="1" dirty="0"/>
              <a:t>자기장에 따른 변화 자체</a:t>
            </a:r>
            <a:r>
              <a:rPr lang="ko-KR" altLang="ko-KR" dirty="0"/>
              <a:t>에 초점을 맞췄습니다.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계산에는 </a:t>
            </a:r>
            <a:r>
              <a:rPr lang="ko-KR" altLang="ko-KR" dirty="0" err="1"/>
              <a:t>Gruner</a:t>
            </a:r>
            <a:r>
              <a:rPr lang="ko-KR" altLang="ko-KR" dirty="0"/>
              <a:t> 등이 제안한 Spin-1 </a:t>
            </a:r>
            <a:r>
              <a:rPr lang="ko-KR" altLang="ko-KR" dirty="0" err="1"/>
              <a:t>Ising</a:t>
            </a:r>
            <a:r>
              <a:rPr lang="ko-KR" altLang="ko-KR" dirty="0"/>
              <a:t> 모델을 사용했습니다.</a:t>
            </a:r>
          </a:p>
          <a:p>
            <a:r>
              <a:rPr lang="ko-KR" altLang="ko-KR" dirty="0" err="1"/>
              <a:t>Fe는</a:t>
            </a:r>
            <a:r>
              <a:rPr lang="ko-KR" altLang="ko-KR" dirty="0"/>
              <a:t> </a:t>
            </a:r>
            <a:r>
              <a:rPr lang="ko-KR" altLang="ko-KR" dirty="0" err="1"/>
              <a:t>위·아래</a:t>
            </a:r>
            <a:r>
              <a:rPr lang="ko-KR" altLang="ko-KR" dirty="0"/>
              <a:t> 두 상태를 가지고, </a:t>
            </a:r>
            <a:r>
              <a:rPr lang="ko-KR" altLang="ko-KR" dirty="0" err="1"/>
              <a:t>Rh는</a:t>
            </a:r>
            <a:r>
              <a:rPr lang="ko-KR" altLang="ko-KR" dirty="0"/>
              <a:t> </a:t>
            </a:r>
            <a:r>
              <a:rPr lang="ko-KR" altLang="ko-KR" dirty="0" err="1"/>
              <a:t>AFM에서</a:t>
            </a:r>
            <a:r>
              <a:rPr lang="ko-KR" altLang="ko-KR" dirty="0"/>
              <a:t> 모멘트가 사라질 수 있기 때문에 \(-1,0,+1\) 세 상태를 가집니다.</a:t>
            </a:r>
          </a:p>
          <a:p>
            <a:r>
              <a:rPr lang="ko-KR" altLang="ko-KR" dirty="0"/>
              <a:t>\(</a:t>
            </a:r>
            <a:r>
              <a:rPr lang="ko-KR" altLang="ko-KR" dirty="0" err="1"/>
              <a:t>J</a:t>
            </a:r>
            <a:r>
              <a:rPr lang="ko-KR" altLang="ko-KR" dirty="0"/>
              <a:t>_{FF}, </a:t>
            </a:r>
            <a:r>
              <a:rPr lang="ko-KR" altLang="ko-KR" dirty="0" err="1"/>
              <a:t>J</a:t>
            </a:r>
            <a:r>
              <a:rPr lang="ko-KR" altLang="ko-KR" dirty="0"/>
              <a:t>_{FR}, 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Rh</a:t>
            </a:r>
            <a:r>
              <a:rPr lang="ko-KR" altLang="ko-KR" dirty="0"/>
              <a:t>}}\) 같은 상호작용 값은 원 논문의 값을 그대로 사용했고, 이번 프로젝트에서는 여기에 실제 </a:t>
            </a:r>
            <a:r>
              <a:rPr lang="ko-KR" altLang="ko-KR" dirty="0" err="1"/>
              <a:t>Fe와</a:t>
            </a:r>
            <a:r>
              <a:rPr lang="ko-KR" altLang="ko-KR" dirty="0"/>
              <a:t> </a:t>
            </a:r>
            <a:r>
              <a:rPr lang="ko-KR" altLang="ko-KR" dirty="0" err="1"/>
              <a:t>Rh의</a:t>
            </a:r>
            <a:r>
              <a:rPr lang="ko-KR" altLang="ko-KR" dirty="0"/>
              <a:t> 자기모멘트와 외부 자기장 \(</a:t>
            </a:r>
            <a:r>
              <a:rPr lang="ko-KR" altLang="ko-KR" dirty="0" err="1"/>
              <a:t>B</a:t>
            </a:r>
            <a:r>
              <a:rPr lang="ko-KR" altLang="ko-KR" dirty="0"/>
              <a:t>\)</a:t>
            </a:r>
            <a:r>
              <a:rPr lang="ko-KR" altLang="ko-KR" dirty="0" err="1"/>
              <a:t>를</a:t>
            </a:r>
            <a:r>
              <a:rPr lang="ko-KR" altLang="ko-KR" dirty="0"/>
              <a:t> 추가했습니다.</a:t>
            </a:r>
          </a:p>
          <a:p>
            <a:r>
              <a:rPr lang="ko-KR" altLang="ko-KR" dirty="0"/>
              <a:t>중요한 점은 </a:t>
            </a:r>
            <a:r>
              <a:rPr lang="ko-KR" altLang="ko-KR" b="1" dirty="0"/>
              <a:t>원래 매개변수는 \(</a:t>
            </a:r>
            <a:r>
              <a:rPr lang="ko-KR" altLang="ko-KR" b="1" dirty="0" err="1"/>
              <a:t>B</a:t>
            </a:r>
            <a:r>
              <a:rPr lang="ko-KR" altLang="ko-KR" b="1" dirty="0"/>
              <a:t>=0\)의 특성에 맞춰진 값이고, 자기장에 따른 \(</a:t>
            </a:r>
            <a:r>
              <a:rPr lang="ko-KR" altLang="ko-KR" b="1" dirty="0" err="1"/>
              <a:t>T_t</a:t>
            </a:r>
            <a:r>
              <a:rPr lang="ko-KR" altLang="ko-KR" b="1" dirty="0"/>
              <a:t>\) 변화는 따로 </a:t>
            </a:r>
            <a:r>
              <a:rPr lang="ko-KR" altLang="ko-KR" b="1" dirty="0" err="1"/>
              <a:t>fitting하지</a:t>
            </a:r>
            <a:r>
              <a:rPr lang="ko-KR" altLang="ko-KR" b="1" dirty="0"/>
              <a:t> 않았다는 것</a:t>
            </a:r>
            <a:r>
              <a:rPr lang="ko-KR" altLang="ko-KR" dirty="0"/>
              <a:t>입니다.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 err="1"/>
              <a:t>해밀토니안은</a:t>
            </a:r>
            <a:r>
              <a:rPr lang="ko-KR" altLang="ko-KR" dirty="0"/>
              <a:t> 물리적으로 네 가지 경쟁으로 볼 수 있습니다.</a:t>
            </a:r>
          </a:p>
          <a:p>
            <a:r>
              <a:rPr lang="ko-KR" altLang="ko-KR" dirty="0"/>
              <a:t>먼저 Fe–Fe 상호작용은 서로 반대 방향을 선호해서 </a:t>
            </a:r>
            <a:r>
              <a:rPr lang="ko-KR" altLang="ko-KR" b="1" dirty="0" err="1"/>
              <a:t>AFM을</a:t>
            </a:r>
            <a:r>
              <a:rPr lang="ko-KR" altLang="ko-KR" b="1" dirty="0"/>
              <a:t> </a:t>
            </a:r>
            <a:r>
              <a:rPr lang="ko-KR" altLang="ko-KR" b="1" dirty="0" err="1"/>
              <a:t>안정화</a:t>
            </a:r>
            <a:r>
              <a:rPr lang="ko-KR" altLang="ko-KR" dirty="0" err="1"/>
              <a:t>합니다</a:t>
            </a:r>
            <a:r>
              <a:rPr lang="ko-KR" altLang="ko-KR" dirty="0"/>
              <a:t>. 반면 Fe–</a:t>
            </a:r>
            <a:r>
              <a:rPr lang="ko-KR" altLang="ko-KR" dirty="0" err="1"/>
              <a:t>Rh</a:t>
            </a:r>
            <a:r>
              <a:rPr lang="ko-KR" altLang="ko-KR" dirty="0"/>
              <a:t> 상호작용은 같은 방향을 선호해서 </a:t>
            </a:r>
            <a:r>
              <a:rPr lang="ko-KR" altLang="ko-KR" b="1" dirty="0" err="1"/>
              <a:t>FM을</a:t>
            </a:r>
            <a:r>
              <a:rPr lang="ko-KR" altLang="ko-KR" b="1" dirty="0"/>
              <a:t> </a:t>
            </a:r>
            <a:r>
              <a:rPr lang="ko-KR" altLang="ko-KR" b="1" dirty="0" err="1"/>
              <a:t>안정화</a:t>
            </a:r>
            <a:r>
              <a:rPr lang="ko-KR" altLang="ko-KR" dirty="0" err="1"/>
              <a:t>합니다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세 번째 항은 </a:t>
            </a:r>
            <a:r>
              <a:rPr lang="ko-KR" altLang="ko-KR" dirty="0" err="1"/>
              <a:t>Rh에</a:t>
            </a:r>
            <a:r>
              <a:rPr lang="ko-KR" altLang="ko-KR" dirty="0"/>
              <a:t> 모멘트를 만드는 데 필요한 에너지 비용이고, 마지막으로 제가 추가한 </a:t>
            </a:r>
            <a:r>
              <a:rPr lang="ko-KR" altLang="ko-KR" dirty="0" err="1"/>
              <a:t>Zeeman</a:t>
            </a:r>
            <a:r>
              <a:rPr lang="ko-KR" altLang="ko-KR" dirty="0"/>
              <a:t> 항은 자기장과 같은 방향의 자화를 가진 상태의 에너지를 낮춥니다.</a:t>
            </a:r>
          </a:p>
          <a:p>
            <a:r>
              <a:rPr lang="ko-KR" altLang="ko-KR" dirty="0"/>
              <a:t>따라서 전체적으로 보면 </a:t>
            </a:r>
            <a:r>
              <a:rPr lang="ko-KR" altLang="ko-KR" b="1" dirty="0" err="1"/>
              <a:t>AFM과</a:t>
            </a:r>
            <a:r>
              <a:rPr lang="ko-KR" altLang="ko-KR" b="1" dirty="0"/>
              <a:t> </a:t>
            </a:r>
            <a:r>
              <a:rPr lang="ko-KR" altLang="ko-KR" b="1" dirty="0" err="1"/>
              <a:t>FM의</a:t>
            </a:r>
            <a:r>
              <a:rPr lang="ko-KR" altLang="ko-KR" b="1" dirty="0"/>
              <a:t> 에너지 경쟁이 있고, 외부 자기장은 그중 FM 쪽에 추가적인 이득을 주는 구조</a:t>
            </a:r>
            <a:r>
              <a:rPr lang="ko-KR" altLang="ko-KR" dirty="0"/>
              <a:t>입니다.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실제 계산은 \(6\times6\times6\) 격자에서 수행했고, 한 </a:t>
            </a:r>
            <a:r>
              <a:rPr lang="ko-KR" altLang="ko-KR" dirty="0" err="1"/>
              <a:t>cell에</a:t>
            </a:r>
            <a:r>
              <a:rPr lang="ko-KR" altLang="ko-KR" dirty="0"/>
              <a:t> </a:t>
            </a:r>
            <a:r>
              <a:rPr lang="ko-KR" altLang="ko-KR" dirty="0" err="1"/>
              <a:t>Fe와</a:t>
            </a:r>
            <a:r>
              <a:rPr lang="ko-KR" altLang="ko-KR" dirty="0"/>
              <a:t> </a:t>
            </a:r>
            <a:r>
              <a:rPr lang="ko-KR" altLang="ko-KR" dirty="0" err="1"/>
              <a:t>Rh가</a:t>
            </a:r>
            <a:r>
              <a:rPr lang="ko-KR" altLang="ko-KR" dirty="0"/>
              <a:t> 하나씩 들어갑니다.</a:t>
            </a:r>
          </a:p>
          <a:p>
            <a:r>
              <a:rPr lang="ko-KR" altLang="ko-KR" dirty="0" err="1"/>
              <a:t>Monte</a:t>
            </a:r>
            <a:r>
              <a:rPr lang="ko-KR" altLang="ko-KR" dirty="0"/>
              <a:t> </a:t>
            </a:r>
            <a:r>
              <a:rPr lang="ko-KR" altLang="ko-KR" dirty="0" err="1"/>
              <a:t>Carlo에서는</a:t>
            </a:r>
            <a:r>
              <a:rPr lang="ko-KR" altLang="ko-KR" dirty="0"/>
              <a:t> 원자의 </a:t>
            </a:r>
            <a:r>
              <a:rPr lang="ko-KR" altLang="ko-KR" dirty="0" err="1"/>
              <a:t>spin</a:t>
            </a:r>
            <a:r>
              <a:rPr lang="ko-KR" altLang="ko-KR" dirty="0"/>
              <a:t> 상태를 하나 바꿔보고, 에너지가 내려가면 항상 받아들이고, 올라가면</a:t>
            </a:r>
          </a:p>
          <a:p>
            <a:r>
              <a:rPr lang="ko-KR" altLang="ko-KR" dirty="0"/>
              <a:t>\[ </a:t>
            </a:r>
            <a:r>
              <a:rPr lang="ko-KR" altLang="ko-KR" dirty="0" err="1"/>
              <a:t>e</a:t>
            </a:r>
            <a:r>
              <a:rPr lang="ko-KR" altLang="ko-KR" dirty="0"/>
              <a:t>^{-\Delta </a:t>
            </a:r>
            <a:r>
              <a:rPr lang="ko-KR" altLang="ko-KR" dirty="0" err="1"/>
              <a:t>E</a:t>
            </a:r>
            <a:r>
              <a:rPr lang="ko-KR" altLang="ko-KR" dirty="0"/>
              <a:t>/</a:t>
            </a:r>
            <a:r>
              <a:rPr lang="ko-KR" altLang="ko-KR" dirty="0" err="1"/>
              <a:t>k_BT</a:t>
            </a:r>
            <a:r>
              <a:rPr lang="ko-KR" altLang="ko-KR" dirty="0"/>
              <a:t>} \]</a:t>
            </a:r>
          </a:p>
          <a:p>
            <a:r>
              <a:rPr lang="ko-KR" altLang="ko-KR" dirty="0"/>
              <a:t>의 확률로 받아들이는 </a:t>
            </a:r>
            <a:r>
              <a:rPr lang="ko-KR" altLang="ko-KR" dirty="0" err="1"/>
              <a:t>Metropolis</a:t>
            </a:r>
            <a:r>
              <a:rPr lang="ko-KR" altLang="ko-KR" dirty="0"/>
              <a:t> 방법을 사용했습니다.</a:t>
            </a:r>
          </a:p>
          <a:p>
            <a:r>
              <a:rPr lang="ko-KR" altLang="ko-KR" dirty="0"/>
              <a:t>그리고 </a:t>
            </a:r>
            <a:r>
              <a:rPr lang="ko-KR" altLang="ko-KR" dirty="0" err="1"/>
              <a:t>FeRh의</a:t>
            </a:r>
            <a:r>
              <a:rPr lang="ko-KR" altLang="ko-KR" dirty="0"/>
              <a:t> AFM–FM 전이는 1차 전이라 </a:t>
            </a:r>
            <a:r>
              <a:rPr lang="ko-KR" altLang="ko-KR" dirty="0" err="1"/>
              <a:t>local</a:t>
            </a:r>
            <a:r>
              <a:rPr lang="ko-KR" altLang="ko-KR" dirty="0"/>
              <a:t> </a:t>
            </a:r>
            <a:r>
              <a:rPr lang="ko-KR" altLang="ko-KR" dirty="0" err="1"/>
              <a:t>update만</a:t>
            </a:r>
            <a:r>
              <a:rPr lang="ko-KR" altLang="ko-KR" dirty="0"/>
              <a:t> 사용하면 한 상에 갇힐 수 있기 때문에, Fe 부분격자와 </a:t>
            </a:r>
            <a:r>
              <a:rPr lang="ko-KR" altLang="ko-KR" dirty="0" err="1"/>
              <a:t>Rh를</a:t>
            </a:r>
            <a:r>
              <a:rPr lang="ko-KR" altLang="ko-KR" dirty="0"/>
              <a:t> 함께 바꾸는 </a:t>
            </a:r>
            <a:r>
              <a:rPr lang="ko-KR" altLang="ko-KR" b="1" dirty="0" err="1"/>
              <a:t>collective</a:t>
            </a:r>
            <a:r>
              <a:rPr lang="ko-KR" altLang="ko-KR" b="1" dirty="0"/>
              <a:t> </a:t>
            </a:r>
            <a:r>
              <a:rPr lang="ko-KR" altLang="ko-KR" b="1" dirty="0" err="1"/>
              <a:t>move</a:t>
            </a:r>
            <a:r>
              <a:rPr lang="ko-KR" altLang="ko-KR" dirty="0" err="1"/>
              <a:t>도</a:t>
            </a:r>
            <a:r>
              <a:rPr lang="ko-KR" altLang="ko-KR" dirty="0"/>
              <a:t> 추가했습니다.</a:t>
            </a:r>
          </a:p>
          <a:p>
            <a:r>
              <a:rPr lang="ko-KR" altLang="ko-KR" dirty="0"/>
              <a:t>이번 계산에서는 현재 </a:t>
            </a:r>
            <a:r>
              <a:rPr lang="ko-KR" altLang="ko-KR" dirty="0" err="1"/>
              <a:t>sampling</a:t>
            </a:r>
            <a:r>
              <a:rPr lang="ko-KR" altLang="ko-KR" dirty="0"/>
              <a:t> 방법으로 안정적으로 전이를 관찰할 수 있었던 \(</a:t>
            </a:r>
            <a:r>
              <a:rPr lang="ko-KR" altLang="ko-KR" dirty="0" err="1"/>
              <a:t>L</a:t>
            </a:r>
            <a:r>
              <a:rPr lang="ko-KR" altLang="ko-KR" dirty="0"/>
              <a:t>=6\)을 </a:t>
            </a:r>
            <a:r>
              <a:rPr lang="ko-KR" altLang="ko-KR" dirty="0" err="1"/>
              <a:t>production</a:t>
            </a:r>
            <a:r>
              <a:rPr lang="ko-KR" altLang="ko-KR" dirty="0"/>
              <a:t> </a:t>
            </a:r>
            <a:r>
              <a:rPr lang="ko-KR" altLang="ko-KR" dirty="0" err="1"/>
              <a:t>size로</a:t>
            </a:r>
            <a:r>
              <a:rPr lang="ko-KR" altLang="ko-KR" dirty="0"/>
              <a:t> 사용했습니다.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시뮬레이션은 낮은 온도의 AFM 상태에서 시작해 150 K부터 350 K까지 5 K 간격으로 온도를 올렸습니다.</a:t>
            </a:r>
          </a:p>
          <a:p>
            <a:r>
              <a:rPr lang="ko-KR" altLang="ko-KR" dirty="0"/>
              <a:t>각 온도에서 먼저 300 </a:t>
            </a:r>
            <a:r>
              <a:rPr lang="ko-KR" altLang="ko-KR" dirty="0" err="1"/>
              <a:t>sweep을</a:t>
            </a:r>
            <a:r>
              <a:rPr lang="ko-KR" altLang="ko-KR" dirty="0"/>
              <a:t> 버려 </a:t>
            </a:r>
            <a:r>
              <a:rPr lang="ko-KR" altLang="ko-KR" dirty="0" err="1"/>
              <a:t>평형화한</a:t>
            </a:r>
            <a:r>
              <a:rPr lang="ko-KR" altLang="ko-KR" dirty="0"/>
              <a:t> 뒤, 1000개의 </a:t>
            </a:r>
            <a:r>
              <a:rPr lang="ko-KR" altLang="ko-KR" dirty="0" err="1"/>
              <a:t>configuration에서</a:t>
            </a:r>
            <a:r>
              <a:rPr lang="ko-KR" altLang="ko-KR" dirty="0"/>
              <a:t> </a:t>
            </a:r>
            <a:r>
              <a:rPr lang="ko-KR" altLang="ko-KR" dirty="0" err="1"/>
              <a:t>order</a:t>
            </a:r>
            <a:r>
              <a:rPr lang="ko-KR" altLang="ko-KR" dirty="0"/>
              <a:t> </a:t>
            </a:r>
            <a:r>
              <a:rPr lang="ko-KR" altLang="ko-KR" dirty="0" err="1"/>
              <a:t>parameter를</a:t>
            </a:r>
            <a:r>
              <a:rPr lang="ko-KR" altLang="ko-KR" dirty="0"/>
              <a:t> 평균했습니다.</a:t>
            </a:r>
          </a:p>
          <a:p>
            <a:r>
              <a:rPr lang="ko-KR" altLang="ko-KR" dirty="0"/>
              <a:t>그림처럼 낮은 온도에서는 AFM 배열이 보이고, 높은 온도에서는 FM 정렬과 함께 </a:t>
            </a:r>
            <a:r>
              <a:rPr lang="ko-KR" altLang="ko-KR" dirty="0" err="1"/>
              <a:t>Rh</a:t>
            </a:r>
            <a:r>
              <a:rPr lang="ko-KR" altLang="ko-KR" dirty="0"/>
              <a:t> </a:t>
            </a:r>
            <a:r>
              <a:rPr lang="ko-KR" altLang="ko-KR" dirty="0" err="1"/>
              <a:t>moment가</a:t>
            </a:r>
            <a:r>
              <a:rPr lang="ko-KR" altLang="ko-KR" dirty="0"/>
              <a:t> 나타납니다.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각 온도에서 FM </a:t>
            </a:r>
            <a:r>
              <a:rPr lang="ko-KR" altLang="ko-KR" dirty="0" err="1"/>
              <a:t>order와</a:t>
            </a:r>
            <a:r>
              <a:rPr lang="ko-KR" altLang="ko-KR" dirty="0"/>
              <a:t> AFM </a:t>
            </a:r>
            <a:r>
              <a:rPr lang="ko-KR" altLang="ko-KR" dirty="0" err="1"/>
              <a:t>order를</a:t>
            </a:r>
            <a:r>
              <a:rPr lang="ko-KR" altLang="ko-KR" dirty="0"/>
              <a:t> 계산하고, </a:t>
            </a:r>
            <a:r>
              <a:rPr lang="ko-KR" altLang="ko-KR" b="1" dirty="0"/>
              <a:t>FM </a:t>
            </a:r>
            <a:r>
              <a:rPr lang="ko-KR" altLang="ko-KR" b="1" dirty="0" err="1"/>
              <a:t>order가</a:t>
            </a:r>
            <a:r>
              <a:rPr lang="ko-KR" altLang="ko-KR" b="1" dirty="0"/>
              <a:t> AFM </a:t>
            </a:r>
            <a:r>
              <a:rPr lang="ko-KR" altLang="ko-KR" b="1" dirty="0" err="1"/>
              <a:t>order를</a:t>
            </a:r>
            <a:r>
              <a:rPr lang="ko-KR" altLang="ko-KR" b="1" dirty="0"/>
              <a:t> 추월하는 온도</a:t>
            </a:r>
            <a:r>
              <a:rPr lang="ko-KR" altLang="ko-KR" dirty="0"/>
              <a:t>를 \(</a:t>
            </a:r>
            <a:r>
              <a:rPr lang="ko-KR" altLang="ko-KR" dirty="0" err="1"/>
              <a:t>T_t</a:t>
            </a:r>
            <a:r>
              <a:rPr lang="ko-KR" altLang="ko-KR" dirty="0"/>
              <a:t>\)로 정의했습니다.</a:t>
            </a:r>
          </a:p>
          <a:p>
            <a:r>
              <a:rPr lang="ko-KR" altLang="ko-KR" dirty="0"/>
              <a:t>이를 \(0\)에서 \(3\) </a:t>
            </a:r>
            <a:r>
              <a:rPr lang="ko-KR" altLang="ko-KR" dirty="0" err="1"/>
              <a:t>T까지</a:t>
            </a:r>
            <a:r>
              <a:rPr lang="ko-KR" altLang="ko-KR" dirty="0"/>
              <a:t> 13개 자기장에서 계산했고, 각 자기장마다 독립적으로 10번 실행해 평균과 표준오차를 구했습니다.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결과를 보기 전에 계산이 제대로 구현됐는지 두 단계로 검증했습니다.</a:t>
            </a:r>
          </a:p>
          <a:p>
            <a:r>
              <a:rPr lang="ko-KR" altLang="ko-KR" dirty="0"/>
              <a:t>첫 번째 질문은 **“에너지 차이 \(\Delta </a:t>
            </a:r>
            <a:r>
              <a:rPr lang="ko-KR" altLang="ko-KR" dirty="0" err="1"/>
              <a:t>E</a:t>
            </a:r>
            <a:r>
              <a:rPr lang="ko-KR" altLang="ko-KR" dirty="0"/>
              <a:t>\)</a:t>
            </a:r>
            <a:r>
              <a:rPr lang="ko-KR" altLang="ko-KR" dirty="0" err="1"/>
              <a:t>를</a:t>
            </a:r>
            <a:r>
              <a:rPr lang="ko-KR" altLang="ko-KR" dirty="0"/>
              <a:t> 제대로 계산하는가?”**입니다.</a:t>
            </a:r>
          </a:p>
          <a:p>
            <a:r>
              <a:rPr lang="ko-KR" altLang="ko-KR" dirty="0"/>
              <a:t>실제 </a:t>
            </a:r>
            <a:r>
              <a:rPr lang="ko-KR" altLang="ko-KR" dirty="0" err="1"/>
              <a:t>Monte</a:t>
            </a:r>
            <a:r>
              <a:rPr lang="ko-KR" altLang="ko-KR" dirty="0"/>
              <a:t> </a:t>
            </a:r>
            <a:r>
              <a:rPr lang="ko-KR" altLang="ko-KR" dirty="0" err="1"/>
              <a:t>Carlo에서는</a:t>
            </a:r>
            <a:r>
              <a:rPr lang="ko-KR" altLang="ko-KR" dirty="0"/>
              <a:t> 매번 전체 격자의 에너지를 다시 계산하면 느리기 때문에, 바뀐 원자의 주변 이웃만 이용해서 \(\Delta </a:t>
            </a:r>
            <a:r>
              <a:rPr lang="ko-KR" altLang="ko-KR" dirty="0" err="1"/>
              <a:t>E</a:t>
            </a:r>
            <a:r>
              <a:rPr lang="ko-KR" altLang="ko-KR" dirty="0"/>
              <a:t>\)</a:t>
            </a:r>
            <a:r>
              <a:rPr lang="ko-KR" altLang="ko-KR" dirty="0" err="1"/>
              <a:t>를</a:t>
            </a:r>
            <a:r>
              <a:rPr lang="ko-KR" altLang="ko-KR" dirty="0"/>
              <a:t> 계산합니다.</a:t>
            </a:r>
          </a:p>
          <a:p>
            <a:r>
              <a:rPr lang="ko-KR" altLang="ko-KR" dirty="0"/>
              <a:t>그래서 같은 </a:t>
            </a:r>
            <a:r>
              <a:rPr lang="ko-KR" altLang="ko-KR" dirty="0" err="1"/>
              <a:t>spin</a:t>
            </a:r>
            <a:r>
              <a:rPr lang="ko-KR" altLang="ko-KR" dirty="0"/>
              <a:t> </a:t>
            </a:r>
            <a:r>
              <a:rPr lang="ko-KR" altLang="ko-KR" dirty="0" err="1"/>
              <a:t>change에</a:t>
            </a:r>
            <a:r>
              <a:rPr lang="ko-KR" altLang="ko-KR" dirty="0"/>
              <a:t> 대해, 이 빠른 </a:t>
            </a:r>
            <a:r>
              <a:rPr lang="ko-KR" altLang="ko-KR" dirty="0" err="1"/>
              <a:t>local</a:t>
            </a:r>
            <a:r>
              <a:rPr lang="ko-KR" altLang="ko-KR" dirty="0"/>
              <a:t> 계산과 격자 전체의 전후 에너지를 직접 계산한 값을 비교했습니다.</a:t>
            </a:r>
          </a:p>
          <a:p>
            <a:r>
              <a:rPr lang="ko-KR" altLang="ko-KR" dirty="0"/>
              <a:t>\(</a:t>
            </a:r>
            <a:r>
              <a:rPr lang="ko-KR" altLang="ko-KR" dirty="0" err="1"/>
              <a:t>L</a:t>
            </a:r>
            <a:r>
              <a:rPr lang="ko-KR" altLang="ko-KR" dirty="0"/>
              <a:t>=6\)의 무작위 배열 200개와 여러 자기장에서 비교했을 때, 가장 크게 차이 난 경우도 \(10^{-12}\,\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mRy</a:t>
            </a:r>
            <a:r>
              <a:rPr lang="ko-KR" altLang="ko-KR" dirty="0"/>
              <a:t>}\) 수준이었습니다.</a:t>
            </a:r>
          </a:p>
          <a:p>
            <a:r>
              <a:rPr lang="ko-KR" altLang="ko-KR" dirty="0"/>
              <a:t>따라서 </a:t>
            </a:r>
            <a:r>
              <a:rPr lang="ko-KR" altLang="ko-KR" b="1" dirty="0"/>
              <a:t>반올림 오차를 제외하면 두 방법이 동일했고, 에너지와 이웃 계산이 올바르게 구현됐다고 판단했습니다.</a:t>
            </a:r>
            <a:endParaRPr lang="ko-KR" altLang="ko-KR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두 번째 질문은 **“</a:t>
            </a:r>
            <a:r>
              <a:rPr lang="ko-KR" altLang="ko-KR" dirty="0" err="1"/>
              <a:t>Metropolis가</a:t>
            </a:r>
            <a:r>
              <a:rPr lang="ko-KR" altLang="ko-KR" dirty="0"/>
              <a:t> 올바른 평형분포를 </a:t>
            </a:r>
            <a:r>
              <a:rPr lang="ko-KR" altLang="ko-KR" dirty="0" err="1"/>
              <a:t>샘플링하는가</a:t>
            </a:r>
            <a:r>
              <a:rPr lang="ko-KR" altLang="ko-KR" dirty="0"/>
              <a:t>?”**입니다.</a:t>
            </a:r>
          </a:p>
          <a:p>
            <a:r>
              <a:rPr lang="ko-KR" altLang="ko-KR" dirty="0"/>
              <a:t>에너지를 정확하게 계산하더라도, 상태들을 잘못된 확률로 뽑으면 </a:t>
            </a:r>
            <a:r>
              <a:rPr lang="ko-KR" altLang="ko-KR" dirty="0" err="1"/>
              <a:t>Monte</a:t>
            </a:r>
            <a:r>
              <a:rPr lang="ko-KR" altLang="ko-KR" dirty="0"/>
              <a:t> </a:t>
            </a:r>
            <a:r>
              <a:rPr lang="ko-KR" altLang="ko-KR" dirty="0" err="1"/>
              <a:t>Carlo</a:t>
            </a:r>
            <a:r>
              <a:rPr lang="ko-KR" altLang="ko-KR" dirty="0"/>
              <a:t> 평균은 틀릴 수 있습니다.</a:t>
            </a:r>
          </a:p>
          <a:p>
            <a:r>
              <a:rPr lang="ko-KR" altLang="ko-KR" dirty="0"/>
              <a:t>그래서 정답을 정확히 계산할 수 있는 작은 \(</a:t>
            </a:r>
            <a:r>
              <a:rPr lang="ko-KR" altLang="ko-KR" dirty="0" err="1"/>
              <a:t>L</a:t>
            </a:r>
            <a:r>
              <a:rPr lang="ko-KR" altLang="ko-KR" dirty="0"/>
              <a:t>=2\) 격자를 사용했습니다. 이 경우 가능한 약 168만 개의 모든 </a:t>
            </a:r>
            <a:r>
              <a:rPr lang="ko-KR" altLang="ko-KR" dirty="0" err="1"/>
              <a:t>configuration을</a:t>
            </a:r>
            <a:r>
              <a:rPr lang="ko-KR" altLang="ko-KR" dirty="0"/>
              <a:t> 전부 계산할 수 있습니다.</a:t>
            </a:r>
          </a:p>
          <a:p>
            <a:r>
              <a:rPr lang="ko-KR" altLang="ko-KR" dirty="0"/>
              <a:t>각 </a:t>
            </a:r>
            <a:r>
              <a:rPr lang="ko-KR" altLang="ko-KR" dirty="0" err="1"/>
              <a:t>configuration의</a:t>
            </a:r>
            <a:r>
              <a:rPr lang="ko-KR" altLang="ko-KR" dirty="0"/>
              <a:t> </a:t>
            </a:r>
            <a:r>
              <a:rPr lang="ko-KR" altLang="ko-KR" dirty="0" err="1"/>
              <a:t>물리량에</a:t>
            </a:r>
            <a:r>
              <a:rPr lang="ko-KR" altLang="ko-KR" dirty="0"/>
              <a:t> </a:t>
            </a:r>
            <a:r>
              <a:rPr lang="ko-KR" altLang="ko-KR" dirty="0" err="1"/>
              <a:t>Boltzmann</a:t>
            </a:r>
            <a:r>
              <a:rPr lang="ko-KR" altLang="ko-KR" dirty="0"/>
              <a:t> </a:t>
            </a:r>
            <a:r>
              <a:rPr lang="ko-KR" altLang="ko-KR" dirty="0" err="1"/>
              <a:t>weight를</a:t>
            </a:r>
            <a:r>
              <a:rPr lang="ko-KR" altLang="ko-KR" dirty="0"/>
              <a:t> 곱해 얻은 </a:t>
            </a:r>
            <a:r>
              <a:rPr lang="ko-KR" altLang="ko-KR" b="1" dirty="0"/>
              <a:t>정확한 </a:t>
            </a:r>
            <a:r>
              <a:rPr lang="ko-KR" altLang="ko-KR" b="1" dirty="0" err="1"/>
              <a:t>thermal</a:t>
            </a:r>
            <a:r>
              <a:rPr lang="ko-KR" altLang="ko-KR" b="1" dirty="0"/>
              <a:t> </a:t>
            </a:r>
            <a:r>
              <a:rPr lang="ko-KR" altLang="ko-KR" b="1" dirty="0" err="1"/>
              <a:t>average가</a:t>
            </a:r>
            <a:r>
              <a:rPr lang="ko-KR" altLang="ko-KR" b="1" dirty="0"/>
              <a:t> 실선</a:t>
            </a:r>
            <a:r>
              <a:rPr lang="ko-KR" altLang="ko-KR" dirty="0"/>
              <a:t>이고, 동일한 조건에서 </a:t>
            </a:r>
            <a:r>
              <a:rPr lang="ko-KR" altLang="ko-KR" dirty="0" err="1"/>
              <a:t>Monte</a:t>
            </a:r>
            <a:r>
              <a:rPr lang="ko-KR" altLang="ko-KR" dirty="0"/>
              <a:t> </a:t>
            </a:r>
            <a:r>
              <a:rPr lang="ko-KR" altLang="ko-KR" dirty="0" err="1"/>
              <a:t>Carlo로</a:t>
            </a:r>
            <a:r>
              <a:rPr lang="ko-KR" altLang="ko-KR" dirty="0"/>
              <a:t> 얻은 평균이 </a:t>
            </a:r>
            <a:r>
              <a:rPr lang="ko-KR" altLang="ko-KR" b="1" dirty="0"/>
              <a:t>점</a:t>
            </a:r>
            <a:r>
              <a:rPr lang="ko-KR" altLang="ko-KR" dirty="0"/>
              <a:t>입니다.</a:t>
            </a:r>
          </a:p>
          <a:p>
            <a:r>
              <a:rPr lang="ko-KR" altLang="ko-KR" dirty="0"/>
              <a:t>두 값이 거의 겹치고, 아래 그래프에서도 </a:t>
            </a:r>
            <a:r>
              <a:rPr lang="ko-KR" altLang="ko-KR" dirty="0" err="1"/>
              <a:t>MC와</a:t>
            </a:r>
            <a:r>
              <a:rPr lang="ko-KR" altLang="ko-KR" dirty="0"/>
              <a:t> </a:t>
            </a:r>
            <a:r>
              <a:rPr lang="ko-KR" altLang="ko-KR" dirty="0" err="1"/>
              <a:t>exact의</a:t>
            </a:r>
            <a:r>
              <a:rPr lang="ko-KR" altLang="ko-KR" dirty="0"/>
              <a:t> 차이가 대부분 \(\pm2\) 표준오차 안에 들어옵니다. \(</a:t>
            </a:r>
            <a:r>
              <a:rPr lang="ko-KR" altLang="ko-KR" dirty="0" err="1"/>
              <a:t>B</a:t>
            </a:r>
            <a:r>
              <a:rPr lang="ko-KR" altLang="ko-KR" dirty="0"/>
              <a:t>=0\)뿐 아니라 \(2\) </a:t>
            </a:r>
            <a:r>
              <a:rPr lang="ko-KR" altLang="ko-KR" dirty="0" err="1"/>
              <a:t>T에서도</a:t>
            </a:r>
            <a:r>
              <a:rPr lang="ko-KR" altLang="ko-KR" dirty="0"/>
              <a:t> 같습니다.</a:t>
            </a:r>
          </a:p>
          <a:p>
            <a:r>
              <a:rPr lang="ko-KR" altLang="ko-KR" dirty="0"/>
              <a:t>따라서 </a:t>
            </a:r>
            <a:r>
              <a:rPr lang="ko-KR" altLang="ko-KR" b="1" dirty="0" err="1"/>
              <a:t>Monte</a:t>
            </a:r>
            <a:r>
              <a:rPr lang="ko-KR" altLang="ko-KR" b="1" dirty="0"/>
              <a:t> </a:t>
            </a:r>
            <a:r>
              <a:rPr lang="ko-KR" altLang="ko-KR" b="1" dirty="0" err="1"/>
              <a:t>Carlo</a:t>
            </a:r>
            <a:r>
              <a:rPr lang="ko-KR" altLang="ko-KR" b="1" dirty="0"/>
              <a:t> 코드가 </a:t>
            </a:r>
            <a:r>
              <a:rPr lang="ko-KR" altLang="ko-KR" b="1" dirty="0" err="1"/>
              <a:t>Boltzmann</a:t>
            </a:r>
            <a:r>
              <a:rPr lang="ko-KR" altLang="ko-KR" b="1" dirty="0"/>
              <a:t> 평형분포를 올바르게 </a:t>
            </a:r>
            <a:r>
              <a:rPr lang="ko-KR" altLang="ko-KR" b="1" dirty="0" err="1"/>
              <a:t>샘플링하도록</a:t>
            </a:r>
            <a:r>
              <a:rPr lang="ko-KR" altLang="ko-KR" b="1" dirty="0"/>
              <a:t> </a:t>
            </a:r>
            <a:r>
              <a:rPr lang="ko-KR" altLang="ko-KR" b="1" dirty="0" err="1"/>
              <a:t>구현됐음을</a:t>
            </a:r>
            <a:r>
              <a:rPr lang="ko-KR" altLang="ko-KR" b="1" dirty="0"/>
              <a:t> 확인했습니다.</a:t>
            </a:r>
            <a:endParaRPr lang="ko-KR" altLang="ko-KR" dirty="0"/>
          </a:p>
          <a:p>
            <a:r>
              <a:rPr lang="ko-KR" altLang="ko-KR" dirty="0"/>
              <a:t>다만 이것은 </a:t>
            </a:r>
            <a:r>
              <a:rPr lang="ko-KR" altLang="ko-KR" dirty="0" err="1"/>
              <a:t>sampling</a:t>
            </a:r>
            <a:r>
              <a:rPr lang="ko-KR" altLang="ko-KR" dirty="0"/>
              <a:t> 알고리즘 자체의 검증이고, 큰 \(</a:t>
            </a:r>
            <a:r>
              <a:rPr lang="ko-KR" altLang="ko-KR" dirty="0" err="1"/>
              <a:t>L</a:t>
            </a:r>
            <a:r>
              <a:rPr lang="ko-KR" altLang="ko-KR" dirty="0"/>
              <a:t>\)에서의 평형화 문제는 별개의 한계입니다.</a:t>
            </a:r>
          </a:p>
          <a:p>
            <a:endParaRPr lang="ko-KR" altLang="en-US" dirty="0"/>
          </a:p>
          <a:p>
            <a:r>
              <a:rPr lang="ko-KR" altLang="en-US" b="1" dirty="0"/>
              <a:t>격자 크기만 다르고 </a:t>
            </a:r>
            <a:r>
              <a:rPr lang="en-US" altLang="ko-KR" b="1" dirty="0"/>
              <a:t>Metropolis</a:t>
            </a:r>
            <a:r>
              <a:rPr lang="ko-KR" altLang="en-US" b="1" dirty="0"/>
              <a:t> 규칙</a:t>
            </a:r>
            <a:r>
              <a:rPr lang="en-US" altLang="ko-KR" b="1" dirty="0"/>
              <a:t>, </a:t>
            </a:r>
            <a:r>
              <a:rPr lang="ko-KR" altLang="en-US" b="1" dirty="0"/>
              <a:t>에너지 계산</a:t>
            </a:r>
            <a:r>
              <a:rPr lang="en-US" altLang="ko-KR" b="1" dirty="0"/>
              <a:t>, </a:t>
            </a:r>
            <a:r>
              <a:rPr lang="ko-KR" altLang="en-US" b="1" dirty="0"/>
              <a:t>상태 업데이트 방식은 동일</a:t>
            </a:r>
          </a:p>
          <a:p>
            <a:r>
              <a:rPr lang="en-US" altLang="ko-KR" dirty="0"/>
              <a:t>Metropolis</a:t>
            </a:r>
            <a:r>
              <a:rPr lang="ko-KR" altLang="en-US" dirty="0"/>
              <a:t> </a:t>
            </a:r>
            <a:r>
              <a:rPr lang="en-US" altLang="ko-KR" dirty="0"/>
              <a:t>MC </a:t>
            </a:r>
            <a:r>
              <a:rPr lang="ko-KR" altLang="en-US" dirty="0"/>
              <a:t>코드가 </a:t>
            </a:r>
            <a:r>
              <a:rPr lang="en-US" altLang="ko-KR" dirty="0"/>
              <a:t>Boltzmann</a:t>
            </a:r>
            <a:r>
              <a:rPr lang="ko-KR" altLang="en-US" dirty="0"/>
              <a:t> 분포를 올바르게 </a:t>
            </a:r>
            <a:r>
              <a:rPr lang="ko-KR" altLang="en-US" dirty="0" err="1"/>
              <a:t>샘플링하도록</a:t>
            </a:r>
            <a:r>
              <a:rPr lang="ko-KR" altLang="en-US" dirty="0"/>
              <a:t> 구현됐다</a:t>
            </a:r>
            <a:r>
              <a:rPr lang="en-US" altLang="ko-KR" dirty="0"/>
              <a:t>.</a:t>
            </a:r>
            <a:endParaRPr lang="ko-KR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이제 결과입니다.</a:t>
            </a:r>
          </a:p>
          <a:p>
            <a:r>
              <a:rPr lang="ko-KR" altLang="ko-KR" dirty="0"/>
              <a:t>먼저 자기장이 없을 때, 낮은 온도에서는 AFM </a:t>
            </a:r>
            <a:r>
              <a:rPr lang="ko-KR" altLang="ko-KR" dirty="0" err="1"/>
              <a:t>order가</a:t>
            </a:r>
            <a:r>
              <a:rPr lang="ko-KR" altLang="ko-KR" dirty="0"/>
              <a:t> 크고 온도가 올라가면서 FM </a:t>
            </a:r>
            <a:r>
              <a:rPr lang="ko-KR" altLang="ko-KR" dirty="0" err="1"/>
              <a:t>order가</a:t>
            </a:r>
            <a:r>
              <a:rPr lang="ko-KR" altLang="ko-KR" dirty="0"/>
              <a:t> 증가합니다.</a:t>
            </a:r>
          </a:p>
          <a:p>
            <a:r>
              <a:rPr lang="ko-KR" altLang="ko-KR" dirty="0"/>
              <a:t>두 </a:t>
            </a:r>
            <a:r>
              <a:rPr lang="ko-KR" altLang="ko-KR" dirty="0" err="1"/>
              <a:t>order</a:t>
            </a:r>
            <a:r>
              <a:rPr lang="ko-KR" altLang="ko-KR" dirty="0"/>
              <a:t> </a:t>
            </a:r>
            <a:r>
              <a:rPr lang="ko-KR" altLang="ko-KR" dirty="0" err="1"/>
              <a:t>parameter가</a:t>
            </a:r>
            <a:r>
              <a:rPr lang="ko-KR" altLang="ko-KR" dirty="0"/>
              <a:t> 교차하는 위치에서</a:t>
            </a:r>
          </a:p>
          <a:p>
            <a:r>
              <a:rPr lang="ko-KR" altLang="ko-KR" dirty="0"/>
              <a:t>\[ </a:t>
            </a:r>
            <a:r>
              <a:rPr lang="ko-KR" altLang="ko-KR" dirty="0" err="1"/>
              <a:t>T_t</a:t>
            </a:r>
            <a:r>
              <a:rPr lang="ko-KR" altLang="ko-KR" dirty="0"/>
              <a:t>=288\pm1\,\</a:t>
            </a:r>
            <a:r>
              <a:rPr lang="ko-KR" altLang="ko-KR" dirty="0" err="1"/>
              <a:t>mathrm</a:t>
            </a:r>
            <a:r>
              <a:rPr lang="ko-KR" altLang="ko-KR" dirty="0"/>
              <a:t> K \]</a:t>
            </a:r>
          </a:p>
          <a:p>
            <a:r>
              <a:rPr lang="ko-KR" altLang="ko-KR" dirty="0" err="1"/>
              <a:t>를</a:t>
            </a:r>
            <a:r>
              <a:rPr lang="ko-KR" altLang="ko-KR" dirty="0"/>
              <a:t> 얻었습니다.</a:t>
            </a:r>
          </a:p>
          <a:p>
            <a:r>
              <a:rPr lang="ko-KR" altLang="ko-KR" dirty="0"/>
              <a:t>절대 전이온도는 실제 </a:t>
            </a:r>
            <a:r>
              <a:rPr lang="ko-KR" altLang="ko-KR" dirty="0" err="1"/>
              <a:t>FeRh보다</a:t>
            </a:r>
            <a:r>
              <a:rPr lang="ko-KR" altLang="ko-KR" dirty="0"/>
              <a:t> 다소 낮지만, 이번 프로젝트의 핵심은 절대값보다는 </a:t>
            </a:r>
            <a:r>
              <a:rPr lang="ko-KR" altLang="ko-KR" b="1" dirty="0"/>
              <a:t>자기장을 바꿨을 때 이 전이온도가 어떻게 </a:t>
            </a:r>
            <a:r>
              <a:rPr lang="ko-KR" altLang="ko-KR" b="1" dirty="0" err="1"/>
              <a:t>이동하는가</a:t>
            </a:r>
            <a:r>
              <a:rPr lang="ko-KR" altLang="ko-KR" dirty="0" err="1"/>
              <a:t>입니다</a:t>
            </a:r>
            <a:r>
              <a:rPr lang="ko-KR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이것이 이번 프로젝트의 핵심 결과입니다.</a:t>
            </a:r>
          </a:p>
          <a:p>
            <a:r>
              <a:rPr lang="ko-KR" altLang="ko-KR" dirty="0"/>
              <a:t>가로축은 자기장, 세로축은 앞에서 같은 방법으로 구한 전이온도입니다.</a:t>
            </a:r>
          </a:p>
          <a:p>
            <a:r>
              <a:rPr lang="ko-KR" altLang="ko-KR" dirty="0" err="1"/>
              <a:t>Monte</a:t>
            </a:r>
            <a:r>
              <a:rPr lang="ko-KR" altLang="ko-KR" dirty="0"/>
              <a:t> </a:t>
            </a:r>
            <a:r>
              <a:rPr lang="ko-KR" altLang="ko-KR" dirty="0" err="1"/>
              <a:t>Carlo</a:t>
            </a:r>
            <a:r>
              <a:rPr lang="ko-KR" altLang="ko-KR" dirty="0"/>
              <a:t> 결과를 보면 </a:t>
            </a:r>
            <a:r>
              <a:rPr lang="ko-KR" altLang="ko-KR" b="1" dirty="0"/>
              <a:t>자기장을 증가시킬수록 \(</a:t>
            </a:r>
            <a:r>
              <a:rPr lang="ko-KR" altLang="ko-KR" b="1" dirty="0" err="1"/>
              <a:t>T_t</a:t>
            </a:r>
            <a:r>
              <a:rPr lang="ko-KR" altLang="ko-KR" b="1" dirty="0"/>
              <a:t>\)가 낮아지는 경향</a:t>
            </a:r>
            <a:r>
              <a:rPr lang="ko-KR" altLang="ko-KR" dirty="0"/>
              <a:t>이 명확하게 나타납니다.</a:t>
            </a:r>
          </a:p>
          <a:p>
            <a:r>
              <a:rPr lang="ko-KR" altLang="ko-KR" dirty="0"/>
              <a:t>중간 자기장 영역에서 모델의 감소율은 대략</a:t>
            </a:r>
          </a:p>
          <a:p>
            <a:r>
              <a:rPr lang="ko-KR" altLang="ko-KR" dirty="0"/>
              <a:t>\[ -24\,\</a:t>
            </a:r>
            <a:r>
              <a:rPr lang="ko-KR" altLang="ko-KR" dirty="0" err="1"/>
              <a:t>mathrm</a:t>
            </a:r>
            <a:r>
              <a:rPr lang="ko-KR" altLang="ko-KR" dirty="0"/>
              <a:t>{K/</a:t>
            </a:r>
            <a:r>
              <a:rPr lang="ko-KR" altLang="ko-KR" dirty="0" err="1"/>
              <a:t>T</a:t>
            </a:r>
            <a:r>
              <a:rPr lang="ko-KR" altLang="ko-KR" dirty="0"/>
              <a:t>} \]</a:t>
            </a:r>
          </a:p>
          <a:p>
            <a:r>
              <a:rPr lang="ko-KR" altLang="ko-KR" dirty="0"/>
              <a:t>정도입니다.</a:t>
            </a:r>
          </a:p>
          <a:p>
            <a:r>
              <a:rPr lang="ko-KR" altLang="ko-KR" dirty="0"/>
              <a:t>반면 </a:t>
            </a:r>
            <a:r>
              <a:rPr lang="ko-KR" altLang="ko-KR" dirty="0" err="1"/>
              <a:t>FeRh</a:t>
            </a:r>
            <a:r>
              <a:rPr lang="ko-KR" altLang="ko-KR" dirty="0"/>
              <a:t> 실험에서는 약</a:t>
            </a:r>
          </a:p>
          <a:p>
            <a:r>
              <a:rPr lang="ko-KR" altLang="ko-KR" dirty="0"/>
              <a:t>\[ -8\,\</a:t>
            </a:r>
            <a:r>
              <a:rPr lang="ko-KR" altLang="ko-KR" dirty="0" err="1"/>
              <a:t>mathrm</a:t>
            </a:r>
            <a:r>
              <a:rPr lang="ko-KR" altLang="ko-KR" dirty="0"/>
              <a:t>{K/</a:t>
            </a:r>
            <a:r>
              <a:rPr lang="ko-KR" altLang="ko-KR" dirty="0" err="1"/>
              <a:t>T</a:t>
            </a:r>
            <a:r>
              <a:rPr lang="ko-KR" altLang="ko-KR" dirty="0"/>
              <a:t>} \]</a:t>
            </a:r>
          </a:p>
          <a:p>
            <a:r>
              <a:rPr lang="ko-KR" altLang="ko-KR" dirty="0"/>
              <a:t>가 보고되어 있습니다.</a:t>
            </a:r>
          </a:p>
          <a:p>
            <a:r>
              <a:rPr lang="ko-KR" altLang="ko-KR" dirty="0"/>
              <a:t>즉 </a:t>
            </a:r>
            <a:r>
              <a:rPr lang="ko-KR" altLang="ko-KR" b="1" dirty="0"/>
              <a:t>자기장이 \(</a:t>
            </a:r>
            <a:r>
              <a:rPr lang="ko-KR" altLang="ko-KR" b="1" dirty="0" err="1"/>
              <a:t>T_t</a:t>
            </a:r>
            <a:r>
              <a:rPr lang="ko-KR" altLang="ko-KR" b="1" dirty="0"/>
              <a:t>\)</a:t>
            </a:r>
            <a:r>
              <a:rPr lang="ko-KR" altLang="ko-KR" b="1" dirty="0" err="1"/>
              <a:t>를</a:t>
            </a:r>
            <a:r>
              <a:rPr lang="ko-KR" altLang="ko-KR" b="1" dirty="0"/>
              <a:t> 낮춘다는 방향은 실험과 일치하지만, 모델은 변화량을 약 세 배 크게 예측했습니다.</a:t>
            </a:r>
            <a:endParaRPr lang="ko-KR" altLang="ko-KR" dirty="0"/>
          </a:p>
          <a:p>
            <a:r>
              <a:rPr lang="ko-KR" altLang="ko-KR" dirty="0"/>
              <a:t>이제 왜 \(</a:t>
            </a:r>
            <a:r>
              <a:rPr lang="ko-KR" altLang="ko-KR" dirty="0" err="1"/>
              <a:t>T_t</a:t>
            </a:r>
            <a:r>
              <a:rPr lang="ko-KR" altLang="ko-KR" dirty="0"/>
              <a:t>\)가 내려가는지, 그리고 왜 이 기울기가 나오는지 설명하겠습니다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이 결과는 자유에너지로 이해할 수 있습니다.</a:t>
            </a:r>
          </a:p>
          <a:p>
            <a:r>
              <a:rPr lang="ko-KR" altLang="ko-KR" dirty="0"/>
              <a:t>안정한 상은</a:t>
            </a:r>
          </a:p>
          <a:p>
            <a:r>
              <a:rPr lang="ko-KR" altLang="ko-KR" dirty="0"/>
              <a:t>\[ </a:t>
            </a:r>
            <a:r>
              <a:rPr lang="ko-KR" altLang="ko-KR" dirty="0" err="1"/>
              <a:t>G</a:t>
            </a:r>
            <a:r>
              <a:rPr lang="ko-KR" altLang="ko-KR" dirty="0"/>
              <a:t>=U-TS-BM \]</a:t>
            </a:r>
          </a:p>
          <a:p>
            <a:r>
              <a:rPr lang="ko-KR" altLang="ko-KR" dirty="0"/>
              <a:t>이 더 낮은 상태입니다.</a:t>
            </a:r>
          </a:p>
          <a:p>
            <a:r>
              <a:rPr lang="ko-KR" altLang="ko-KR" dirty="0"/>
              <a:t>먼저 자기장이 없을 때, 저온에서는 </a:t>
            </a:r>
            <a:r>
              <a:rPr lang="ko-KR" altLang="ko-KR" dirty="0" err="1"/>
              <a:t>AFM이</a:t>
            </a:r>
            <a:r>
              <a:rPr lang="ko-KR" altLang="ko-KR" dirty="0"/>
              <a:t> 내부에너지 측면에서 더 유리합니다. 반면 </a:t>
            </a:r>
            <a:r>
              <a:rPr lang="ko-KR" altLang="ko-KR" dirty="0" err="1"/>
              <a:t>FM은</a:t>
            </a:r>
            <a:r>
              <a:rPr lang="ko-KR" altLang="ko-KR" dirty="0"/>
              <a:t> </a:t>
            </a:r>
            <a:r>
              <a:rPr lang="ko-KR" altLang="ko-KR" dirty="0" err="1"/>
              <a:t>Rh</a:t>
            </a:r>
            <a:r>
              <a:rPr lang="ko-KR" altLang="ko-KR" dirty="0"/>
              <a:t> </a:t>
            </a:r>
            <a:r>
              <a:rPr lang="ko-KR" altLang="ko-KR" dirty="0" err="1"/>
              <a:t>moment가</a:t>
            </a:r>
            <a:r>
              <a:rPr lang="ko-KR" altLang="ko-KR" dirty="0"/>
              <a:t> 추가로 활성화되면서 가능한 </a:t>
            </a:r>
            <a:r>
              <a:rPr lang="ko-KR" altLang="ko-KR" dirty="0" err="1"/>
              <a:t>spin</a:t>
            </a:r>
            <a:r>
              <a:rPr lang="ko-KR" altLang="ko-KR" dirty="0"/>
              <a:t> </a:t>
            </a:r>
            <a:r>
              <a:rPr lang="ko-KR" altLang="ko-KR" dirty="0" err="1"/>
              <a:t>configuration이</a:t>
            </a:r>
            <a:r>
              <a:rPr lang="ko-KR" altLang="ko-KR" dirty="0"/>
              <a:t> 더 많아 </a:t>
            </a:r>
            <a:r>
              <a:rPr lang="ko-KR" altLang="ko-KR" b="1" dirty="0"/>
              <a:t>엔트로피가 더 큽니다.</a:t>
            </a:r>
            <a:endParaRPr lang="ko-KR" altLang="ko-KR" dirty="0"/>
          </a:p>
          <a:p>
            <a:r>
              <a:rPr lang="ko-KR" altLang="ko-KR" dirty="0"/>
              <a:t>따라서 온도가 올라가면 \(-TS\) 항 때문에 </a:t>
            </a:r>
            <a:r>
              <a:rPr lang="ko-KR" altLang="ko-KR" dirty="0" err="1"/>
              <a:t>FM의</a:t>
            </a:r>
            <a:r>
              <a:rPr lang="ko-KR" altLang="ko-KR" dirty="0"/>
              <a:t> 자유에너지가 더 빠르게 낮아지고, 두 자유에너지가 같아지는 지점에서 </a:t>
            </a:r>
            <a:r>
              <a:rPr lang="ko-KR" altLang="ko-KR" dirty="0" err="1"/>
              <a:t>AFM에서</a:t>
            </a:r>
            <a:r>
              <a:rPr lang="ko-KR" altLang="ko-KR" dirty="0"/>
              <a:t> </a:t>
            </a:r>
            <a:r>
              <a:rPr lang="ko-KR" altLang="ko-KR" dirty="0" err="1"/>
              <a:t>FM으로</a:t>
            </a:r>
            <a:r>
              <a:rPr lang="ko-KR" altLang="ko-KR" dirty="0"/>
              <a:t> 전이합니다.</a:t>
            </a:r>
          </a:p>
          <a:p>
            <a:r>
              <a:rPr lang="ko-KR" altLang="ko-KR" dirty="0"/>
              <a:t>이제 자기장을 걸면 \(-BM\) 항이 생깁니다. </a:t>
            </a:r>
            <a:r>
              <a:rPr lang="ko-KR" altLang="ko-KR" dirty="0" err="1"/>
              <a:t>AFM은</a:t>
            </a:r>
            <a:r>
              <a:rPr lang="ko-KR" altLang="ko-KR" dirty="0"/>
              <a:t> 순자화가 거의 0인 반면 </a:t>
            </a:r>
            <a:r>
              <a:rPr lang="ko-KR" altLang="ko-KR" dirty="0" err="1"/>
              <a:t>FM은</a:t>
            </a:r>
            <a:r>
              <a:rPr lang="ko-KR" altLang="ko-KR" dirty="0"/>
              <a:t> 큰 자화를 가지므로, </a:t>
            </a:r>
            <a:r>
              <a:rPr lang="ko-KR" altLang="ko-KR" b="1" dirty="0"/>
              <a:t>자기장은 </a:t>
            </a:r>
            <a:r>
              <a:rPr lang="ko-KR" altLang="ko-KR" b="1" dirty="0" err="1"/>
              <a:t>FM의</a:t>
            </a:r>
            <a:r>
              <a:rPr lang="ko-KR" altLang="ko-KR" b="1" dirty="0"/>
              <a:t> 자유에너지만 선택적으로 더 낮춰줍니다.</a:t>
            </a:r>
            <a:endParaRPr lang="ko-KR" altLang="ko-KR" dirty="0"/>
          </a:p>
          <a:p>
            <a:r>
              <a:rPr lang="ko-KR" altLang="ko-KR" dirty="0"/>
              <a:t>그러면 </a:t>
            </a:r>
            <a:r>
              <a:rPr lang="ko-KR" altLang="ko-KR" dirty="0" err="1"/>
              <a:t>AFM과</a:t>
            </a:r>
            <a:r>
              <a:rPr lang="ko-KR" altLang="ko-KR" dirty="0"/>
              <a:t> </a:t>
            </a:r>
            <a:r>
              <a:rPr lang="ko-KR" altLang="ko-KR" dirty="0" err="1"/>
              <a:t>FM의</a:t>
            </a:r>
            <a:r>
              <a:rPr lang="ko-KR" altLang="ko-KR" dirty="0"/>
              <a:t> 자유에너지 교차점이 더 낮은 온도로 이동하고, 따라서 \(</a:t>
            </a:r>
            <a:r>
              <a:rPr lang="ko-KR" altLang="ko-KR" dirty="0" err="1"/>
              <a:t>T_t</a:t>
            </a:r>
            <a:r>
              <a:rPr lang="ko-KR" altLang="ko-KR" dirty="0"/>
              <a:t>\)가 감소합니다.</a:t>
            </a:r>
          </a:p>
          <a:p>
            <a:r>
              <a:rPr lang="ko-KR" altLang="ko-KR" dirty="0"/>
              <a:t>그리고 전이선에서는 </a:t>
            </a:r>
            <a:r>
              <a:rPr lang="ko-KR" altLang="ko-KR" dirty="0" err="1"/>
              <a:t>magnetic</a:t>
            </a:r>
            <a:r>
              <a:rPr lang="ko-KR" altLang="ko-KR" dirty="0"/>
              <a:t> </a:t>
            </a:r>
            <a:r>
              <a:rPr lang="ko-KR" altLang="ko-KR" dirty="0" err="1"/>
              <a:t>Clausius</a:t>
            </a:r>
            <a:r>
              <a:rPr lang="ko-KR" altLang="ko-KR" dirty="0"/>
              <a:t>–</a:t>
            </a:r>
            <a:r>
              <a:rPr lang="ko-KR" altLang="ko-KR" dirty="0" err="1"/>
              <a:t>Clapeyron</a:t>
            </a:r>
            <a:r>
              <a:rPr lang="ko-KR" altLang="ko-KR" dirty="0"/>
              <a:t> 관계</a:t>
            </a:r>
          </a:p>
          <a:p>
            <a:r>
              <a:rPr lang="ko-KR" altLang="ko-KR" dirty="0"/>
              <a:t>\[ \</a:t>
            </a:r>
            <a:r>
              <a:rPr lang="ko-KR" altLang="ko-KR" dirty="0" err="1"/>
              <a:t>frac</a:t>
            </a:r>
            <a:r>
              <a:rPr lang="ko-KR" altLang="ko-KR" dirty="0"/>
              <a:t>{</a:t>
            </a:r>
            <a:r>
              <a:rPr lang="ko-KR" altLang="ko-KR" dirty="0" err="1"/>
              <a:t>dT_t</a:t>
            </a:r>
            <a:r>
              <a:rPr lang="ko-KR" altLang="ko-KR" dirty="0"/>
              <a:t>}{</a:t>
            </a:r>
            <a:r>
              <a:rPr lang="ko-KR" altLang="ko-KR" dirty="0" err="1"/>
              <a:t>dB</a:t>
            </a:r>
            <a:r>
              <a:rPr lang="ko-KR" altLang="ko-KR" dirty="0"/>
              <a:t>}=-\</a:t>
            </a:r>
            <a:r>
              <a:rPr lang="ko-KR" altLang="ko-KR" dirty="0" err="1"/>
              <a:t>frac</a:t>
            </a:r>
            <a:r>
              <a:rPr lang="ko-KR" altLang="ko-KR" dirty="0"/>
              <a:t>{\Delta </a:t>
            </a:r>
            <a:r>
              <a:rPr lang="ko-KR" altLang="ko-KR" dirty="0" err="1"/>
              <a:t>M</a:t>
            </a:r>
            <a:r>
              <a:rPr lang="ko-KR" altLang="ko-KR" dirty="0"/>
              <a:t>}{\Delta </a:t>
            </a:r>
            <a:r>
              <a:rPr lang="ko-KR" altLang="ko-KR" dirty="0" err="1"/>
              <a:t>S</a:t>
            </a:r>
            <a:r>
              <a:rPr lang="ko-KR" altLang="ko-KR" dirty="0"/>
              <a:t>} \]</a:t>
            </a:r>
          </a:p>
          <a:p>
            <a:r>
              <a:rPr lang="ko-KR" altLang="ko-KR" dirty="0"/>
              <a:t>가 성립합니다.</a:t>
            </a:r>
          </a:p>
          <a:p>
            <a:r>
              <a:rPr lang="ko-KR" altLang="ko-KR" dirty="0"/>
              <a:t>시뮬레이션에서 얻은 \(\Delta </a:t>
            </a:r>
            <a:r>
              <a:rPr lang="ko-KR" altLang="ko-KR" dirty="0" err="1"/>
              <a:t>M</a:t>
            </a:r>
            <a:r>
              <a:rPr lang="ko-KR" altLang="ko-KR" dirty="0"/>
              <a:t>\)과 \(\Delta </a:t>
            </a:r>
            <a:r>
              <a:rPr lang="ko-KR" altLang="ko-KR" dirty="0" err="1"/>
              <a:t>S</a:t>
            </a:r>
            <a:r>
              <a:rPr lang="ko-KR" altLang="ko-KR" dirty="0"/>
              <a:t>\)</a:t>
            </a:r>
            <a:r>
              <a:rPr lang="ko-KR" altLang="ko-KR" dirty="0" err="1"/>
              <a:t>를</a:t>
            </a:r>
            <a:r>
              <a:rPr lang="ko-KR" altLang="ko-KR" dirty="0"/>
              <a:t> 넣으면 약 \(-24\,\</a:t>
            </a:r>
            <a:r>
              <a:rPr lang="ko-KR" altLang="ko-KR" dirty="0" err="1"/>
              <a:t>mathrm</a:t>
            </a:r>
            <a:r>
              <a:rPr lang="ko-KR" altLang="ko-KR" dirty="0"/>
              <a:t>{K/</a:t>
            </a:r>
            <a:r>
              <a:rPr lang="ko-KR" altLang="ko-KR" dirty="0" err="1"/>
              <a:t>T</a:t>
            </a:r>
            <a:r>
              <a:rPr lang="ko-KR" altLang="ko-KR" dirty="0"/>
              <a:t>}\)가 나오며, 앞의 </a:t>
            </a:r>
            <a:r>
              <a:rPr lang="ko-KR" altLang="ko-KR" dirty="0" err="1"/>
              <a:t>Monte</a:t>
            </a:r>
            <a:r>
              <a:rPr lang="ko-KR" altLang="ko-KR" dirty="0"/>
              <a:t> </a:t>
            </a:r>
            <a:r>
              <a:rPr lang="ko-KR" altLang="ko-KR" dirty="0" err="1"/>
              <a:t>Carlo</a:t>
            </a:r>
            <a:r>
              <a:rPr lang="ko-KR" altLang="ko-KR" dirty="0"/>
              <a:t> 결과와 일치합니다.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그런데 실제 결과는 완벽한 직선이 아니라 세 구간으로 나뉩니다.</a:t>
            </a:r>
          </a:p>
          <a:p>
            <a:r>
              <a:rPr lang="ko-KR" altLang="ko-KR" dirty="0"/>
              <a:t>먼저 0에서 0.5 </a:t>
            </a:r>
            <a:r>
              <a:rPr lang="ko-KR" altLang="ko-KR" dirty="0" err="1"/>
              <a:t>T에서는</a:t>
            </a:r>
            <a:r>
              <a:rPr lang="ko-KR" altLang="ko-KR" dirty="0"/>
              <a:t> 자기장이 매우 약해서, 작은 </a:t>
            </a:r>
            <a:r>
              <a:rPr lang="ko-KR" altLang="ko-KR" dirty="0" err="1"/>
              <a:t>finite</a:t>
            </a:r>
            <a:r>
              <a:rPr lang="ko-KR" altLang="ko-KR" dirty="0"/>
              <a:t> </a:t>
            </a:r>
            <a:r>
              <a:rPr lang="ko-KR" altLang="ko-KR" dirty="0" err="1"/>
              <a:t>lattice</a:t>
            </a:r>
            <a:r>
              <a:rPr lang="ko-KR" altLang="ko-KR" dirty="0"/>
              <a:t> 안에서 </a:t>
            </a:r>
            <a:r>
              <a:rPr lang="ko-KR" altLang="ko-KR" dirty="0" err="1"/>
              <a:t>FM의</a:t>
            </a:r>
            <a:r>
              <a:rPr lang="ko-KR" altLang="ko-KR" dirty="0"/>
              <a:t> \(+</a:t>
            </a:r>
            <a:r>
              <a:rPr lang="ko-KR" altLang="ko-KR" dirty="0" err="1"/>
              <a:t>M</a:t>
            </a:r>
            <a:r>
              <a:rPr lang="ko-KR" altLang="ko-KR" dirty="0"/>
              <a:t>\)과 \(-</a:t>
            </a:r>
            <a:r>
              <a:rPr lang="ko-KR" altLang="ko-KR" dirty="0" err="1"/>
              <a:t>M</a:t>
            </a:r>
            <a:r>
              <a:rPr lang="ko-KR" altLang="ko-KR" dirty="0"/>
              <a:t>\) 방향을 모두 </a:t>
            </a:r>
            <a:r>
              <a:rPr lang="ko-KR" altLang="ko-KR" dirty="0" err="1"/>
              <a:t>샘플링합니다</a:t>
            </a:r>
            <a:r>
              <a:rPr lang="ko-KR" altLang="ko-KR" dirty="0"/>
              <a:t>. 그래서 평균적인 \(\Delta </a:t>
            </a:r>
            <a:r>
              <a:rPr lang="ko-KR" altLang="ko-KR" dirty="0" err="1"/>
              <a:t>M</a:t>
            </a:r>
            <a:r>
              <a:rPr lang="ko-KR" altLang="ko-KR" dirty="0"/>
              <a:t>\)이 작고, 식</a:t>
            </a:r>
          </a:p>
          <a:p>
            <a:r>
              <a:rPr lang="ko-KR" altLang="ko-KR" dirty="0"/>
              <a:t>\[ \</a:t>
            </a:r>
            <a:r>
              <a:rPr lang="ko-KR" altLang="ko-KR" dirty="0" err="1"/>
              <a:t>frac</a:t>
            </a:r>
            <a:r>
              <a:rPr lang="ko-KR" altLang="ko-KR" dirty="0"/>
              <a:t>{</a:t>
            </a:r>
            <a:r>
              <a:rPr lang="ko-KR" altLang="ko-KR" dirty="0" err="1"/>
              <a:t>dT_t</a:t>
            </a:r>
            <a:r>
              <a:rPr lang="ko-KR" altLang="ko-KR" dirty="0"/>
              <a:t>}{</a:t>
            </a:r>
            <a:r>
              <a:rPr lang="ko-KR" altLang="ko-KR" dirty="0" err="1"/>
              <a:t>dB</a:t>
            </a:r>
            <a:r>
              <a:rPr lang="ko-KR" altLang="ko-KR" dirty="0"/>
              <a:t>}=-\</a:t>
            </a:r>
            <a:r>
              <a:rPr lang="ko-KR" altLang="ko-KR" dirty="0" err="1"/>
              <a:t>frac</a:t>
            </a:r>
            <a:r>
              <a:rPr lang="ko-KR" altLang="ko-KR" dirty="0"/>
              <a:t>{\Delta </a:t>
            </a:r>
            <a:r>
              <a:rPr lang="ko-KR" altLang="ko-KR" dirty="0" err="1"/>
              <a:t>M</a:t>
            </a:r>
            <a:r>
              <a:rPr lang="ko-KR" altLang="ko-KR" dirty="0"/>
              <a:t>}{\Delta </a:t>
            </a:r>
            <a:r>
              <a:rPr lang="ko-KR" altLang="ko-KR" dirty="0" err="1"/>
              <a:t>S</a:t>
            </a:r>
            <a:r>
              <a:rPr lang="ko-KR" altLang="ko-KR" dirty="0"/>
              <a:t>} \]</a:t>
            </a:r>
          </a:p>
          <a:p>
            <a:r>
              <a:rPr lang="ko-KR" altLang="ko-KR" dirty="0" err="1"/>
              <a:t>에</a:t>
            </a:r>
            <a:r>
              <a:rPr lang="ko-KR" altLang="ko-KR" dirty="0"/>
              <a:t> 따라 초반 기울기도 작게 나타납니다.</a:t>
            </a:r>
          </a:p>
          <a:p>
            <a:r>
              <a:rPr lang="ko-KR" altLang="ko-KR" dirty="0"/>
              <a:t>0.5에서 2 </a:t>
            </a:r>
            <a:r>
              <a:rPr lang="ko-KR" altLang="ko-KR" dirty="0" err="1"/>
              <a:t>T에서는</a:t>
            </a:r>
            <a:r>
              <a:rPr lang="ko-KR" altLang="ko-KR" dirty="0"/>
              <a:t> 자기장이 FM 방향을 충분히 선택하고, \(\Delta </a:t>
            </a:r>
            <a:r>
              <a:rPr lang="ko-KR" altLang="ko-KR" dirty="0" err="1"/>
              <a:t>M</a:t>
            </a:r>
            <a:r>
              <a:rPr lang="ko-KR" altLang="ko-KR" dirty="0"/>
              <a:t>/\Delta </a:t>
            </a:r>
            <a:r>
              <a:rPr lang="ko-KR" altLang="ko-KR" dirty="0" err="1"/>
              <a:t>S</a:t>
            </a:r>
            <a:r>
              <a:rPr lang="ko-KR" altLang="ko-KR" dirty="0"/>
              <a:t>\)가 거의 일정해서 약 \(-24\,\</a:t>
            </a:r>
            <a:r>
              <a:rPr lang="ko-KR" altLang="ko-KR" dirty="0" err="1"/>
              <a:t>mathrm</a:t>
            </a:r>
            <a:r>
              <a:rPr lang="ko-KR" altLang="ko-KR" dirty="0"/>
              <a:t>{K/</a:t>
            </a:r>
            <a:r>
              <a:rPr lang="ko-KR" altLang="ko-KR" dirty="0" err="1"/>
              <a:t>T</a:t>
            </a:r>
            <a:r>
              <a:rPr lang="ko-KR" altLang="ko-KR" dirty="0"/>
              <a:t>}\)의 거의 선형적인 구간이 나타납니다.</a:t>
            </a:r>
          </a:p>
          <a:p>
            <a:r>
              <a:rPr lang="ko-KR" altLang="ko-KR" dirty="0"/>
              <a:t>2 </a:t>
            </a:r>
            <a:r>
              <a:rPr lang="ko-KR" altLang="ko-KR" dirty="0" err="1"/>
              <a:t>T</a:t>
            </a:r>
            <a:r>
              <a:rPr lang="ko-KR" altLang="ko-KR" dirty="0"/>
              <a:t> 이상에서는 기울기의 절댓값이 다시 커집니다. 현재는 </a:t>
            </a:r>
            <a:r>
              <a:rPr lang="ko-KR" altLang="ko-KR" b="1" dirty="0"/>
              <a:t>\(\Delta </a:t>
            </a:r>
            <a:r>
              <a:rPr lang="ko-KR" altLang="ko-KR" b="1" dirty="0" err="1"/>
              <a:t>S</a:t>
            </a:r>
            <a:r>
              <a:rPr lang="ko-KR" altLang="ko-KR" b="1" dirty="0"/>
              <a:t>\)가 감소해 \(\Delta </a:t>
            </a:r>
            <a:r>
              <a:rPr lang="ko-KR" altLang="ko-KR" b="1" dirty="0" err="1"/>
              <a:t>M</a:t>
            </a:r>
            <a:r>
              <a:rPr lang="ko-KR" altLang="ko-KR" b="1" dirty="0"/>
              <a:t>/\Delta </a:t>
            </a:r>
            <a:r>
              <a:rPr lang="ko-KR" altLang="ko-KR" b="1" dirty="0" err="1"/>
              <a:t>S</a:t>
            </a:r>
            <a:r>
              <a:rPr lang="ko-KR" altLang="ko-KR" b="1" dirty="0"/>
              <a:t>\)가 커지는 것</a:t>
            </a:r>
            <a:r>
              <a:rPr lang="ko-KR" altLang="ko-KR" dirty="0"/>
              <a:t>으로 추정하고 있지만, 이 부분은 아직 직접 검증하지 않았기 때문에 기말에서 확인할 예정입니다.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ko-KR" dirty="0"/>
              <a:t>가장 큰 한계는 모델이 실험보다 자기장 효과를 약 세 배 크게 예측한다는 점입니다.</a:t>
            </a:r>
          </a:p>
          <a:p>
            <a:r>
              <a:rPr lang="ko-KR" altLang="ko-KR" dirty="0"/>
              <a:t>앞의 관계에서 기울기는 \(\Delta </a:t>
            </a:r>
            <a:r>
              <a:rPr lang="ko-KR" altLang="ko-KR" dirty="0" err="1"/>
              <a:t>M</a:t>
            </a:r>
            <a:r>
              <a:rPr lang="ko-KR" altLang="ko-KR" dirty="0"/>
              <a:t>/\Delta </a:t>
            </a:r>
            <a:r>
              <a:rPr lang="ko-KR" altLang="ko-KR" dirty="0" err="1"/>
              <a:t>S</a:t>
            </a:r>
            <a:r>
              <a:rPr lang="ko-KR" altLang="ko-KR" dirty="0"/>
              <a:t>\)로 정해지는데, 이 모델은 </a:t>
            </a:r>
            <a:r>
              <a:rPr lang="ko-KR" altLang="ko-KR" dirty="0" err="1"/>
              <a:t>spin</a:t>
            </a:r>
            <a:r>
              <a:rPr lang="ko-KR" altLang="ko-KR" dirty="0"/>
              <a:t> 자유도만 포함하고 실제 </a:t>
            </a:r>
            <a:r>
              <a:rPr lang="ko-KR" altLang="ko-KR" dirty="0" err="1"/>
              <a:t>FeRh</a:t>
            </a:r>
            <a:r>
              <a:rPr lang="ko-KR" altLang="ko-KR" dirty="0"/>
              <a:t> 전이에 기여하는 </a:t>
            </a:r>
            <a:r>
              <a:rPr lang="ko-KR" altLang="ko-KR" b="1" dirty="0"/>
              <a:t>전자와 격자 진동의 엔트로피를 포함하지 않습니다.</a:t>
            </a:r>
            <a:endParaRPr lang="ko-KR" altLang="ko-KR" dirty="0"/>
          </a:p>
          <a:p>
            <a:r>
              <a:rPr lang="ko-KR" altLang="ko-KR" dirty="0"/>
              <a:t>따라서 모델의 \(\Delta </a:t>
            </a:r>
            <a:r>
              <a:rPr lang="ko-KR" altLang="ko-KR" dirty="0" err="1"/>
              <a:t>S</a:t>
            </a:r>
            <a:r>
              <a:rPr lang="ko-KR" altLang="ko-KR" dirty="0"/>
              <a:t>\)가 실제보다 작아 기울기가 과대평가된 것으로 해석할 수 있습니다.</a:t>
            </a:r>
          </a:p>
          <a:p>
            <a:r>
              <a:rPr lang="ko-KR" altLang="ko-KR" dirty="0"/>
              <a:t>또 이번 계산은 작은 </a:t>
            </a:r>
            <a:r>
              <a:rPr lang="ko-KR" altLang="ko-KR" dirty="0" err="1"/>
              <a:t>finite</a:t>
            </a:r>
            <a:r>
              <a:rPr lang="ko-KR" altLang="ko-KR" dirty="0"/>
              <a:t> </a:t>
            </a:r>
            <a:r>
              <a:rPr lang="ko-KR" altLang="ko-KR" dirty="0" err="1"/>
              <a:t>lattice에</a:t>
            </a:r>
            <a:r>
              <a:rPr lang="ko-KR" altLang="ko-KR" dirty="0"/>
              <a:t> 한정되어 있고, \(</a:t>
            </a:r>
            <a:r>
              <a:rPr lang="ko-KR" altLang="ko-KR" dirty="0" err="1"/>
              <a:t>L</a:t>
            </a:r>
            <a:r>
              <a:rPr lang="ko-KR" altLang="ko-KR" dirty="0"/>
              <a:t>\ge10\)에서는 현재 </a:t>
            </a:r>
            <a:r>
              <a:rPr lang="ko-KR" altLang="ko-KR" dirty="0" err="1"/>
              <a:t>sampling</a:t>
            </a:r>
            <a:r>
              <a:rPr lang="ko-KR" altLang="ko-KR" dirty="0"/>
              <a:t> 방법으로 </a:t>
            </a:r>
            <a:r>
              <a:rPr lang="ko-KR" altLang="ko-KR" dirty="0" err="1"/>
              <a:t>평형화하지</a:t>
            </a:r>
            <a:r>
              <a:rPr lang="ko-KR" altLang="ko-KR" dirty="0"/>
              <a:t> 못했습니다.</a:t>
            </a:r>
          </a:p>
          <a:p>
            <a:r>
              <a:rPr lang="ko-KR" altLang="ko-KR" dirty="0"/>
              <a:t>마지막으로 2 </a:t>
            </a:r>
            <a:r>
              <a:rPr lang="ko-KR" altLang="ko-KR" dirty="0" err="1"/>
              <a:t>T</a:t>
            </a:r>
            <a:r>
              <a:rPr lang="ko-KR" altLang="ko-KR" dirty="0"/>
              <a:t> 이상의 급격한 기울기 변화 원인은 아직 가설 단계입니다.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[참고용]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dirty="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Field-Driven Shift of the</a:t>
            </a:r>
          </a:p>
          <a:p>
            <a:pPr algn="l">
              <a:spcAft>
                <a:spcPts val="0"/>
              </a:spcAft>
            </a:pPr>
            <a:r>
              <a:rPr sz="3400" b="1" dirty="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AFM–FM Transition in </a:t>
            </a:r>
            <a:r>
              <a:rPr sz="3400" b="1" dirty="0" err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FeRh</a:t>
            </a:r>
            <a:endParaRPr sz="3400" b="1" dirty="0">
              <a:solidFill>
                <a:srgbClr val="1F3B73"/>
              </a:solidFill>
              <a:latin typeface="Arial"/>
              <a:ea typeface="Malgun Gothic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Spin-1 Ising 모델 Monte Carlo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9548" y="3861995"/>
            <a:ext cx="2240664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5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20211237 </a:t>
            </a:r>
            <a:r>
              <a:rPr lang="ko-KR" altLang="en-US" sz="15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박주우</a:t>
            </a:r>
            <a:endParaRPr sz="15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FeRh: AFM → FM near Room Temperature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2</a:t>
            </a:r>
          </a:p>
        </p:txBody>
      </p:sp>
      <p:pic>
        <p:nvPicPr>
          <p:cNvPr id="4" name="Picture 3" descr="s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0347"/>
            <a:ext cx="8229600" cy="3219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34840"/>
            <a:ext cx="795527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B2 구조: 꼭짓점 Fe, 중심 Rh  ·  AFM = 반강자성, FM = 강자성, T</a:t>
            </a:r>
            <a:r>
              <a:rPr sz="1000" b="0" baseline="-2500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 = 전이온도  ·  Kouvel &amp; Hartelius 1962; Gruner et al. 2003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소자 응용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열보조 자기기록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반강자성 메모리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자기 냉각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1527048"/>
            <a:ext cx="365760" cy="237744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0" y="96012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원하는 온도에서</a:t>
            </a:r>
          </a:p>
          <a:p>
            <a:pPr algn="ctr"/>
            <a:r>
              <a:rPr sz="15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켜고 꺼야 함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→ T</a:t>
            </a:r>
            <a:r>
              <a:rPr sz="1200" b="0" baseline="-2500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12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조절이 핵심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60720" y="1527048"/>
            <a:ext cx="365760" cy="237744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960120"/>
            <a:ext cx="2514600" cy="621792"/>
          </a:xfrm>
          <a:prstGeom prst="roundRect">
            <a:avLst>
              <a:gd name="adj" fmla="val 12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자기장 B</a:t>
            </a:r>
            <a:r>
              <a:rPr sz="1400" b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  (이번 과제)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09928"/>
            <a:ext cx="2514600" cy="62179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변형 · 박막 두께  (기말)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697480"/>
            <a:ext cx="8321040" cy="14173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905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Question</a:t>
            </a:r>
          </a:p>
          <a:p>
            <a:pPr algn="ctr"/>
            <a:r>
              <a:rPr sz="20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자기장이 변하면 FeRh의 전이온도 T</a:t>
            </a:r>
            <a:r>
              <a:rPr sz="2000" b="1" baseline="-2500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20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는 어떻게, 얼마나 변하는가?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Model: Spin-1 Ising Hamiltonian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4</a:t>
            </a:r>
          </a:p>
        </p:txBody>
      </p:sp>
      <p:pic>
        <p:nvPicPr>
          <p:cNvPr id="4" name="Picture 3" descr="eq_hamilton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169" y="822960"/>
            <a:ext cx="5835661" cy="56692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08760"/>
          <a:ext cx="73152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Symbol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Meaning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s</a:t>
                      </a:r>
                      <a:r>
                        <a:rPr sz="1300" b="0" baseline="-25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±1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Fe spin (up / down)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σ</a:t>
                      </a:r>
                      <a:r>
                        <a:rPr sz="1300" b="0" baseline="-25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k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−1, 0, +1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Rh spin (0 = no moment)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J</a:t>
                      </a:r>
                      <a:r>
                        <a:rPr sz="1300" b="0" baseline="-25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−1.00 mRy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Fe–Fe exchange, 6 neighbours → favours AFM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J</a:t>
                      </a:r>
                      <a:r>
                        <a:rPr sz="1300" b="0" baseline="-25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FR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+2.13 mRy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Fe–Rh exchange, 8 neighbours → favours FM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D</a:t>
                      </a:r>
                      <a:r>
                        <a:rPr sz="1300" b="0" baseline="-25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Rh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−11.10 mRy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energy cost of a Rh moment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μ</a:t>
                      </a:r>
                      <a:r>
                        <a:rPr sz="1300" b="0" baseline="-25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Fe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, μ</a:t>
                      </a:r>
                      <a:r>
                        <a:rPr sz="1300" b="0" baseline="-25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Rh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3.2, 0.9 μ</a:t>
                      </a:r>
                      <a:r>
                        <a:rPr sz="1300" b="0" baseline="-25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atomic moments (Zeeman term, added)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0 – 3 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external magnetic field (added)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200" y="4343400"/>
                <a:ext cx="7955279" cy="20928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Gruner, Hoffmann &amp; Entel, PRB 67, 064415 (2003) — </a:t>
                </a:r>
                <a:r>
                  <a:rPr lang="ko-KR" altLang="en-US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매개변수는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B = 0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의 </a:t>
                </a:r>
                <a:r>
                  <a:rPr lang="ko-KR" altLang="en-US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실험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</a:t>
                </a:r>
                <a:r>
                  <a:rPr lang="ko-KR" altLang="en-US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온도들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(T</a:t>
                </a:r>
                <a:r>
                  <a:rPr lang="en-US" altLang="ko-KR" sz="1000" b="0" baseline="-250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N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, T</a:t>
                </a:r>
                <a:r>
                  <a:rPr lang="en-US" altLang="ko-KR" sz="1000" b="0" baseline="-250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C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, T</a:t>
                </a:r>
                <a:r>
                  <a:rPr lang="en-US" altLang="ko-KR" sz="1000" b="0" baseline="-250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m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)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에 </a:t>
                </a:r>
                <a:r>
                  <a:rPr lang="ko-KR" altLang="en-US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맞춘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값 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,  1 </a:t>
                </a:r>
                <a:r>
                  <a:rPr lang="en-US" altLang="ko-KR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mRy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≈ </a:t>
                </a:r>
                <a14:m>
                  <m:oMath xmlns:m="http://schemas.openxmlformats.org/officeDocument/2006/math">
                    <m:r>
                      <a:rPr lang="ko-KR" altLang="en-US" sz="1000" b="0" i="1" smtClean="0">
                        <a:solidFill>
                          <a:srgbClr val="666666"/>
                        </a:solidFill>
                        <a:latin typeface="Cambria Math" panose="02040503050406030204" pitchFamily="18" charset="0"/>
                        <a:ea typeface="Malgun Gothic"/>
                        <a:cs typeface="Malgun Gothic"/>
                      </a:rPr>
                      <m:t>2</m:t>
                    </m:r>
                    <m:r>
                      <a:rPr lang="en-US" altLang="ko-KR" sz="1000" b="0" i="1" smtClean="0">
                        <a:solidFill>
                          <a:srgbClr val="666666"/>
                        </a:solidFill>
                        <a:latin typeface="Cambria Math" panose="02040503050406030204" pitchFamily="18" charset="0"/>
                        <a:ea typeface="Malgun Gothic"/>
                        <a:cs typeface="Malgun Gothic"/>
                      </a:rPr>
                      <m:t>.18</m:t>
                    </m:r>
                    <m:r>
                      <a:rPr lang="en-US" altLang="ko-KR" sz="1000" b="0" i="1" smtClean="0">
                        <a:solidFill>
                          <a:srgbClr val="6666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Malgun Gothic"/>
                      </a:rPr>
                      <m:t>×</m:t>
                    </m:r>
                    <m:sSup>
                      <m:sSupPr>
                        <m:ctrlPr>
                          <a:rPr lang="en-US" altLang="ko-KR" sz="1000" b="0" i="1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algun Gothic"/>
                          </a:rPr>
                        </m:ctrlPr>
                      </m:sSupPr>
                      <m:e>
                        <m:r>
                          <a:rPr lang="en-US" altLang="ko-KR" sz="1000" b="0" i="1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algun Gothic"/>
                          </a:rPr>
                          <m:t>10</m:t>
                        </m:r>
                      </m:e>
                      <m:sup>
                        <m:r>
                          <a:rPr lang="en-US" altLang="ko-KR" sz="1000" b="0" i="1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algun Gothic"/>
                          </a:rPr>
                          <m:t>−21</m:t>
                        </m:r>
                      </m:sup>
                    </m:sSup>
                  </m:oMath>
                </a14:m>
                <a:r>
                  <a:rPr 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J</a:t>
                </a:r>
                <a:endParaRPr sz="1000" b="0" dirty="0">
                  <a:solidFill>
                    <a:srgbClr val="666666"/>
                  </a:solidFill>
                  <a:latin typeface="Arial"/>
                  <a:ea typeface="Malgun Gothic"/>
                  <a:cs typeface="Malgun Gothic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43400"/>
                <a:ext cx="7955279" cy="209288"/>
              </a:xfrm>
              <a:prstGeom prst="rect">
                <a:avLst/>
              </a:prstGeom>
              <a:blipFill>
                <a:blip r:embed="rId4"/>
                <a:stretch>
                  <a:fillRect t="-11765" b="-20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Model: Spin-1 Ising Hamiltonian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5</a:t>
            </a:r>
          </a:p>
        </p:txBody>
      </p:sp>
      <p:pic>
        <p:nvPicPr>
          <p:cNvPr id="4" name="Picture 3" descr="eq_hamilton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293" y="822960"/>
            <a:ext cx="5647413" cy="548640"/>
          </a:xfrm>
          <a:prstGeom prst="rect">
            <a:avLst/>
          </a:prstGeom>
        </p:spPr>
      </p:pic>
      <p:pic>
        <p:nvPicPr>
          <p:cNvPr id="5" name="Picture 4" descr="s_term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522476"/>
            <a:ext cx="2148839" cy="2578608"/>
          </a:xfrm>
          <a:prstGeom prst="rect">
            <a:avLst/>
          </a:prstGeom>
        </p:spPr>
      </p:pic>
      <p:pic>
        <p:nvPicPr>
          <p:cNvPr id="6" name="Picture 5" descr="s_term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1522476"/>
            <a:ext cx="2148839" cy="2578608"/>
          </a:xfrm>
          <a:prstGeom prst="rect">
            <a:avLst/>
          </a:prstGeom>
        </p:spPr>
      </p:pic>
      <p:pic>
        <p:nvPicPr>
          <p:cNvPr id="7" name="Picture 6" descr="s_term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1522476"/>
            <a:ext cx="2148839" cy="2578608"/>
          </a:xfrm>
          <a:prstGeom prst="rect">
            <a:avLst/>
          </a:prstGeom>
        </p:spPr>
      </p:pic>
      <p:pic>
        <p:nvPicPr>
          <p:cNvPr id="8" name="Picture 7" descr="s_term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79" y="1522476"/>
            <a:ext cx="2148839" cy="25786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19C618-009B-22DB-D684-F4AD46014DE2}"/>
                  </a:ext>
                </a:extLst>
              </p:cNvPr>
              <p:cNvSpPr txBox="1"/>
              <p:nvPr/>
            </p:nvSpPr>
            <p:spPr>
              <a:xfrm>
                <a:off x="457200" y="4343400"/>
                <a:ext cx="7955279" cy="20928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Gruner, Hoffmann &amp; Entel, PRB 67, 064415 (2003) — </a:t>
                </a:r>
                <a:r>
                  <a:rPr lang="ko-KR" altLang="en-US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매개변수는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B = 0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의 </a:t>
                </a:r>
                <a:r>
                  <a:rPr lang="ko-KR" altLang="en-US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실험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</a:t>
                </a:r>
                <a:r>
                  <a:rPr lang="ko-KR" altLang="en-US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온도들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(T</a:t>
                </a:r>
                <a:r>
                  <a:rPr lang="en-US" altLang="ko-KR" sz="1000" b="0" baseline="-250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N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, T</a:t>
                </a:r>
                <a:r>
                  <a:rPr lang="en-US" altLang="ko-KR" sz="1000" b="0" baseline="-250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C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, T</a:t>
                </a:r>
                <a:r>
                  <a:rPr lang="en-US" altLang="ko-KR" sz="1000" b="0" baseline="-250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m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)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에 </a:t>
                </a:r>
                <a:r>
                  <a:rPr lang="ko-KR" altLang="en-US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맞춘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값 </a:t>
                </a:r>
                <a:r>
                  <a:rPr lang="en-US" altLang="ko-KR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,  1 </a:t>
                </a:r>
                <a:r>
                  <a:rPr lang="en-US" altLang="ko-KR" sz="1000" b="0" dirty="0" err="1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mRy</a:t>
                </a:r>
                <a:r>
                  <a:rPr lang="ko-KR" alt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≈ </a:t>
                </a:r>
                <a14:m>
                  <m:oMath xmlns:m="http://schemas.openxmlformats.org/officeDocument/2006/math">
                    <m:r>
                      <a:rPr lang="ko-KR" altLang="en-US" sz="1000" b="0" i="1" smtClean="0">
                        <a:solidFill>
                          <a:srgbClr val="666666"/>
                        </a:solidFill>
                        <a:latin typeface="Cambria Math" panose="02040503050406030204" pitchFamily="18" charset="0"/>
                        <a:ea typeface="Malgun Gothic"/>
                        <a:cs typeface="Malgun Gothic"/>
                      </a:rPr>
                      <m:t>2</m:t>
                    </m:r>
                    <m:r>
                      <a:rPr lang="en-US" altLang="ko-KR" sz="1000" b="0" i="1" smtClean="0">
                        <a:solidFill>
                          <a:srgbClr val="666666"/>
                        </a:solidFill>
                        <a:latin typeface="Cambria Math" panose="02040503050406030204" pitchFamily="18" charset="0"/>
                        <a:ea typeface="Malgun Gothic"/>
                        <a:cs typeface="Malgun Gothic"/>
                      </a:rPr>
                      <m:t>.18</m:t>
                    </m:r>
                    <m:r>
                      <a:rPr lang="en-US" altLang="ko-KR" sz="1000" b="0" i="1" smtClean="0">
                        <a:solidFill>
                          <a:srgbClr val="6666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Malgun Gothic"/>
                      </a:rPr>
                      <m:t>×</m:t>
                    </m:r>
                    <m:sSup>
                      <m:sSupPr>
                        <m:ctrlPr>
                          <a:rPr lang="en-US" altLang="ko-KR" sz="1000" b="0" i="1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algun Gothic"/>
                          </a:rPr>
                        </m:ctrlPr>
                      </m:sSupPr>
                      <m:e>
                        <m:r>
                          <a:rPr lang="en-US" altLang="ko-KR" sz="1000" b="0" i="1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algun Gothic"/>
                          </a:rPr>
                          <m:t>10</m:t>
                        </m:r>
                      </m:e>
                      <m:sup>
                        <m:r>
                          <a:rPr lang="en-US" altLang="ko-KR" sz="1000" b="0" i="1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algun Gothic"/>
                          </a:rPr>
                          <m:t>−21</m:t>
                        </m:r>
                      </m:sup>
                    </m:sSup>
                  </m:oMath>
                </a14:m>
                <a:r>
                  <a:rPr lang="en-US" sz="1000" b="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J</a:t>
                </a:r>
                <a:endParaRPr sz="1000" b="0" dirty="0">
                  <a:solidFill>
                    <a:srgbClr val="666666"/>
                  </a:solidFill>
                  <a:latin typeface="Arial"/>
                  <a:ea typeface="Malgun Gothic"/>
                  <a:cs typeface="Malgun Gothic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19C618-009B-22DB-D684-F4AD46014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43400"/>
                <a:ext cx="7955279" cy="209288"/>
              </a:xfrm>
              <a:prstGeom prst="rect">
                <a:avLst/>
              </a:prstGeom>
              <a:blipFill>
                <a:blip r:embed="rId8"/>
                <a:stretch>
                  <a:fillRect t="-11765" b="-20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1" dirty="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Workflow</a:t>
            </a:r>
            <a:r>
              <a:rPr sz="2600" b="1" dirty="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 ① Lattice &amp; Metropolis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6</a:t>
            </a:r>
          </a:p>
        </p:txBody>
      </p:sp>
      <p:pic>
        <p:nvPicPr>
          <p:cNvPr id="4" name="Picture 3" descr="s_lattic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3611880"/>
            <a:ext cx="2926080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한 층 (</a:t>
            </a:r>
            <a:r>
              <a:rPr sz="11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위에서</a:t>
            </a:r>
            <a:r>
              <a:rPr sz="11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 본 </a:t>
            </a:r>
            <a:r>
              <a:rPr sz="11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모습</a:t>
            </a:r>
            <a:r>
              <a:rPr sz="11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)</a:t>
            </a:r>
          </a:p>
          <a:p>
            <a:pPr algn="ctr">
              <a:spcAft>
                <a:spcPts val="0"/>
              </a:spcAft>
            </a:pPr>
            <a:r>
              <a:rPr sz="11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1칸 = Fe 1 + Rh 1 · L = 6: 216칸</a:t>
            </a:r>
          </a:p>
          <a:p>
            <a:pPr algn="ctr">
              <a:spcAft>
                <a:spcPts val="0"/>
              </a:spcAft>
            </a:pPr>
            <a:r>
              <a:rPr sz="11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주기</a:t>
            </a:r>
            <a:r>
              <a:rPr sz="11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경계</a:t>
            </a:r>
            <a:endParaRPr lang="en-US" sz="11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  <a:p>
            <a:pPr algn="ctr">
              <a:spcAft>
                <a:spcPts val="0"/>
              </a:spcAft>
            </a:pPr>
            <a:r>
              <a:rPr lang="en-US" sz="110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L=6 -&gt; </a:t>
            </a:r>
            <a:r>
              <a:rPr lang="ko-KR" altLang="en-US" sz="110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가장 안정적인 </a:t>
            </a:r>
            <a:r>
              <a:rPr lang="en-US" altLang="ko-KR" sz="110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size</a:t>
            </a:r>
            <a:endParaRPr sz="11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</p:txBody>
      </p:sp>
      <p:pic>
        <p:nvPicPr>
          <p:cNvPr id="6" name="Picture 5" descr="s_fl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401" y="868679"/>
            <a:ext cx="3112397" cy="1600200"/>
          </a:xfrm>
          <a:prstGeom prst="rect">
            <a:avLst/>
          </a:prstGeom>
        </p:spPr>
      </p:pic>
      <p:pic>
        <p:nvPicPr>
          <p:cNvPr id="7" name="Picture 6" descr="eq_metropol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573974"/>
            <a:ext cx="2834640" cy="4756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54680" y="3090672"/>
            <a:ext cx="3291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채택 확률 (Metropolis et al. 1953)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474720"/>
            <a:ext cx="3291840" cy="7068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에너지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↓ →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항상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바꿈</a:t>
            </a:r>
            <a:endParaRPr sz="13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ctr">
              <a:spcAft>
                <a:spcPts val="200"/>
              </a:spcAft>
            </a:pP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에너지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↑ →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확률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p</a:t>
            </a:r>
            <a:r>
              <a:rPr sz="1300" b="0" baseline="-2500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acc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로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바꿈</a:t>
            </a:r>
            <a:endParaRPr lang="en-US" sz="13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ctr">
              <a:spcAft>
                <a:spcPts val="200"/>
              </a:spcAft>
            </a:pPr>
            <a:r>
              <a:rPr lang="en-US" altLang="ko-KR" sz="130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Δ</a:t>
            </a:r>
            <a:r>
              <a:rPr lang="en-US" sz="130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E</a:t>
            </a:r>
            <a:r>
              <a:rPr lang="ko-KR" altLang="en-US" sz="130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는 이웃 원자만 고려</a:t>
            </a:r>
            <a:endParaRPr sz="13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</p:txBody>
      </p:sp>
      <p:pic>
        <p:nvPicPr>
          <p:cNvPr id="10" name="Picture 9" descr="s_collecti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207" y="868680"/>
            <a:ext cx="2314664" cy="1188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2148840"/>
            <a:ext cx="2331720" cy="113261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+ </a:t>
            </a:r>
            <a:r>
              <a:rPr sz="1200" b="1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집단</a:t>
            </a:r>
            <a:r>
              <a:rPr sz="1200" b="1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이동</a:t>
            </a:r>
            <a:endParaRPr sz="1200" b="1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Fe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한쪽</a:t>
            </a: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부분격자와</a:t>
            </a: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Rh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전체를</a:t>
            </a: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한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번에</a:t>
            </a: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바꿔</a:t>
            </a: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보기</a:t>
            </a:r>
            <a:endParaRPr sz="12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l">
              <a:spcAft>
                <a:spcPts val="400"/>
              </a:spcAft>
            </a:pP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같은</a:t>
            </a: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규칙으로</a:t>
            </a: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채택</a:t>
            </a:r>
            <a:endParaRPr sz="12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→ 1차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전이에서</a:t>
            </a: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갇히지</a:t>
            </a:r>
            <a:r>
              <a:rPr sz="12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않게</a:t>
            </a:r>
            <a:endParaRPr sz="12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1" dirty="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Workflow</a:t>
            </a:r>
            <a:r>
              <a:rPr sz="2600" b="1" dirty="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 ② Heating &amp;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7</a:t>
            </a:r>
          </a:p>
        </p:txBody>
      </p:sp>
      <p:pic>
        <p:nvPicPr>
          <p:cNvPr id="4" name="Picture 3" descr="fig_snapsh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44" y="822960"/>
            <a:ext cx="7250511" cy="2697479"/>
          </a:xfrm>
          <a:prstGeom prst="rect">
            <a:avLst/>
          </a:prstGeom>
        </p:spPr>
      </p:pic>
      <p:pic>
        <p:nvPicPr>
          <p:cNvPr id="5" name="Picture 4" descr="eq_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148" y="3611880"/>
            <a:ext cx="2909783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0" y="3566160"/>
            <a:ext cx="393192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228600" algn="l">
              <a:spcAft>
                <a:spcPts val="200"/>
              </a:spcAft>
              <a:buChar char="•"/>
            </a:pPr>
            <a:r>
              <a:rPr sz="13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150 → 350 K, 5 K 간격</a:t>
            </a:r>
          </a:p>
          <a:p>
            <a:pPr marL="228600" indent="-228600" algn="l">
              <a:spcAft>
                <a:spcPts val="200"/>
              </a:spcAft>
              <a:buChar char="•"/>
            </a:pPr>
            <a:r>
              <a:rPr sz="13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온도마다 300 sweep 버리고 표본 1000개</a:t>
            </a:r>
          </a:p>
          <a:p>
            <a:pPr marL="228600" indent="-228600" algn="l">
              <a:spcAft>
                <a:spcPts val="200"/>
              </a:spcAft>
              <a:buChar char="•"/>
            </a:pPr>
            <a:r>
              <a:rPr sz="13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온도는 p</a:t>
            </a:r>
            <a:r>
              <a:rPr sz="1300" b="0" baseline="-2500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acc</a:t>
            </a:r>
            <a:r>
              <a:rPr sz="13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에만 들어감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795527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실제 시뮬레이션 배열 (한 층, L = 6) · 빨강/파랑: Fe 위/아래 · 초록: Rh 모멘트 · 회색: 모멘트 없는 Rh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Workflow</a:t>
            </a: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2600" b="1" dirty="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③ Finding T</a:t>
            </a:r>
            <a:r>
              <a:rPr sz="2600" b="1" baseline="-25000" dirty="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8</a:t>
            </a:r>
          </a:p>
        </p:txBody>
      </p:sp>
      <p:pic>
        <p:nvPicPr>
          <p:cNvPr id="4" name="Picture 3" descr="s_workflow_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75433"/>
            <a:ext cx="8412480" cy="31868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1300" b="0" baseline="-2500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13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: m</a:t>
            </a:r>
            <a:r>
              <a:rPr sz="1300" b="0" baseline="-2500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FM</a:t>
            </a:r>
            <a:r>
              <a:rPr sz="13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이 m</a:t>
            </a:r>
            <a:r>
              <a:rPr sz="1300" b="0" baseline="-2500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AF</a:t>
            </a:r>
            <a:r>
              <a:rPr sz="13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를 추월하는 온도  ·  자기장 0–3 T 13개 × 독립 실행 10번  ·  에러바 = 표준오차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dirty="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Validation ①: Energy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0060" y="947147"/>
                <a:ext cx="8321040" cy="483146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ko-KR" altLang="en-US" sz="1400" b="0" i="0" dirty="0">
                              <a:solidFill>
                                <a:srgbClr val="666666"/>
                              </a:solidFill>
                              <a:latin typeface="+mn-ea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ko-KR" altLang="en-US" sz="1400" b="0" i="0" dirty="0">
                              <a:solidFill>
                                <a:srgbClr val="666666"/>
                              </a:solidFill>
                              <a:latin typeface="+mn-ea"/>
                            </a:rPr>
                            <m:t>주변 이웃만 보고 계산한 </m:t>
                          </m:r>
                          <m:r>
                            <m:rPr>
                              <m:sty m:val="p"/>
                            </m:rPr>
                            <a:rPr lang="ko-KR" altLang="en-US" sz="1400" b="0" i="0" dirty="0">
                              <a:solidFill>
                                <a:srgbClr val="666666"/>
                              </a:solidFill>
                              <a:latin typeface="+mn-ea"/>
                            </a:rPr>
                            <m:t>Δ</m:t>
                          </m:r>
                          <m:r>
                            <a:rPr lang="ko-KR" altLang="en-US" sz="1400" b="0" i="1" dirty="0">
                              <a:solidFill>
                                <a:srgbClr val="666666"/>
                              </a:solidFill>
                              <a:latin typeface="+mn-ea"/>
                            </a:rPr>
                            <m:t>𝐸</m:t>
                          </m:r>
                          <m:limUpp>
                            <m:limUppPr>
                              <m:ctrlPr>
                                <a:rPr lang="ko-KR" altLang="en-US" sz="1400" b="0" i="0" dirty="0">
                                  <a:solidFill>
                                    <a:srgbClr val="666666"/>
                                  </a:solidFill>
                                  <a:latin typeface="+mn-ea"/>
                                </a:rPr>
                              </m:ctrlPr>
                            </m:limUppPr>
                            <m:e>
                              <m:r>
                                <a:rPr lang="ko-KR" altLang="en-US" sz="1400" b="0" i="0" dirty="0">
                                  <a:solidFill>
                                    <a:srgbClr val="666666"/>
                                  </a:solidFill>
                                  <a:latin typeface="+mn-ea"/>
                                </a:rPr>
                                <m:t>=</m:t>
                              </m:r>
                            </m:e>
                            <m:lim>
                              <m:r>
                                <a:rPr lang="ko-KR" altLang="en-US" sz="1400" b="0" i="0" dirty="0">
                                  <a:solidFill>
                                    <a:srgbClr val="666666"/>
                                  </a:solidFill>
                                  <a:latin typeface="+mn-ea"/>
                                </a:rPr>
                                <m:t>?</m:t>
                              </m:r>
                            </m:lim>
                          </m:limUpp>
                          <m:r>
                            <m:rPr>
                              <m:nor/>
                            </m:rPr>
                            <a:rPr lang="ko-KR" altLang="en-US" sz="1400" b="0" i="0" dirty="0">
                              <a:solidFill>
                                <a:srgbClr val="666666"/>
                              </a:solidFill>
                              <a:latin typeface="+mn-ea"/>
                            </a:rPr>
                            <m:t>격자 전체를 다시 계산한 </m:t>
                          </m:r>
                          <m:r>
                            <m:rPr>
                              <m:sty m:val="p"/>
                            </m:rPr>
                            <a:rPr lang="ko-KR" altLang="en-US" sz="1400" b="0" i="0" dirty="0">
                              <a:solidFill>
                                <a:srgbClr val="666666"/>
                              </a:solidFill>
                              <a:latin typeface="+mn-ea"/>
                            </a:rPr>
                            <m:t>Δ</m:t>
                          </m:r>
                          <m:r>
                            <a:rPr lang="ko-KR" altLang="en-US" sz="1400" b="0" i="1" dirty="0">
                              <a:solidFill>
                                <a:srgbClr val="666666"/>
                              </a:solidFill>
                              <a:latin typeface="+mn-ea"/>
                            </a:rPr>
                            <m:t>𝐸</m:t>
                          </m:r>
                        </m:e>
                      </m:borderBox>
                    </m:oMath>
                  </m:oMathPara>
                </a14:m>
                <a:endParaRPr sz="1400" b="0" dirty="0">
                  <a:solidFill>
                    <a:srgbClr val="666666"/>
                  </a:solidFill>
                  <a:latin typeface="+mn-ea"/>
                  <a:cs typeface="Malgun Gothic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" y="947147"/>
                <a:ext cx="8321040" cy="4831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833091"/>
              </p:ext>
            </p:extLst>
          </p:nvPr>
        </p:nvGraphicFramePr>
        <p:xfrm>
          <a:off x="548641" y="1645805"/>
          <a:ext cx="46634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B (T)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Fe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뒤집기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최대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차이</a:t>
                      </a:r>
                      <a:endParaRPr sz="1300" b="1" dirty="0">
                        <a:solidFill>
                          <a:srgbClr val="FFFFFF"/>
                        </a:solidFill>
                        <a:latin typeface="Arial"/>
                        <a:ea typeface="Malgun Gothic"/>
                        <a:cs typeface="Malgun Gothic"/>
                      </a:endParaRP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Rh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바꾸기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최대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차이</a:t>
                      </a:r>
                      <a:endParaRPr sz="1300" b="1" dirty="0">
                        <a:solidFill>
                          <a:srgbClr val="FFFFFF"/>
                        </a:solidFill>
                        <a:latin typeface="Arial"/>
                        <a:ea typeface="Malgun Gothic"/>
                        <a:cs typeface="Malgun Gothic"/>
                      </a:endParaRP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5 × 10</a:t>
                      </a:r>
                      <a:r>
                        <a:rPr sz="1300" b="0" baseline="30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−13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mRy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8 × 10</a:t>
                      </a:r>
                      <a:r>
                        <a:rPr sz="1300" b="0" baseline="30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−13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mRy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0.5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9 × 10</a:t>
                      </a:r>
                      <a:r>
                        <a:rPr sz="1300" b="0" baseline="30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−13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mRy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9 × 10</a:t>
                      </a:r>
                      <a:r>
                        <a:rPr sz="1300" b="0" baseline="30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−13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mRy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7 × 10</a:t>
                      </a:r>
                      <a:r>
                        <a:rPr sz="1300" b="0" baseline="30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−13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mRy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 × 10</a:t>
                      </a:r>
                      <a:r>
                        <a:rPr sz="1300" b="0" baseline="30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−12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mRy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2.0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5 × 10</a:t>
                      </a:r>
                      <a:r>
                        <a:rPr sz="1300" b="0" baseline="30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−13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mRy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9 × 10</a:t>
                      </a:r>
                      <a:r>
                        <a:rPr sz="1300" b="0" baseline="30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−13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mRy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 × 10</a:t>
                      </a:r>
                      <a:r>
                        <a:rPr sz="1300" b="0" baseline="3000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−12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mRy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1 × 10</a:t>
                      </a:r>
                      <a:r>
                        <a:rPr sz="1300" b="0" baseline="3000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−12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mRy</a:t>
                      </a:r>
                      <a:endParaRPr sz="1300" b="0" dirty="0">
                        <a:solidFill>
                          <a:srgbClr val="222222"/>
                        </a:solidFill>
                        <a:latin typeface="Arial"/>
                        <a:ea typeface="Malgun Gothic"/>
                        <a:cs typeface="Malgun Gothi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1" y="4343400"/>
            <a:ext cx="8183879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✓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차이는</a:t>
            </a:r>
            <a:r>
              <a:rPr sz="1400" b="0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반올림</a:t>
            </a:r>
            <a:r>
              <a:rPr sz="1400" b="0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오차</a:t>
            </a:r>
            <a:r>
              <a:rPr sz="1400" b="0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(10</a:t>
            </a:r>
            <a:r>
              <a:rPr sz="1400" b="0" baseline="30000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−12</a:t>
            </a:r>
            <a:r>
              <a:rPr sz="1400" b="0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mRy</a:t>
            </a:r>
            <a:r>
              <a:rPr sz="1400" b="0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)뿐 →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에너지·이웃</a:t>
            </a:r>
            <a:r>
              <a:rPr sz="1400" b="0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계산</a:t>
            </a:r>
            <a:r>
              <a:rPr sz="1400" b="0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정확</a:t>
            </a:r>
            <a:endParaRPr sz="1400" b="0" dirty="0">
              <a:solidFill>
                <a:srgbClr val="FFFFFF"/>
              </a:solidFill>
              <a:latin typeface="Arial"/>
              <a:ea typeface="Malgun Gothic"/>
              <a:cs typeface="Malgun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4EB0F5-C61D-630D-6DEB-430AD5EF32A2}"/>
                  </a:ext>
                </a:extLst>
              </p:cNvPr>
              <p:cNvSpPr txBox="1"/>
              <p:nvPr/>
            </p:nvSpPr>
            <p:spPr>
              <a:xfrm>
                <a:off x="5305825" y="2175945"/>
                <a:ext cx="365529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ko-KR" sz="14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·  L = 6 </a:t>
                </a:r>
                <a:r>
                  <a:rPr lang="ko-KR" altLang="en-US" sz="14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무작위 배열 </a:t>
                </a:r>
                <a:r>
                  <a:rPr lang="en-US" altLang="ko-KR" sz="14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200</a:t>
                </a:r>
                <a:r>
                  <a:rPr lang="ko-KR" altLang="en-US" sz="14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개 뽑고 각각에 대해</a:t>
                </a:r>
                <a:endParaRPr lang="en-US" altLang="ko-KR" sz="1400" dirty="0">
                  <a:solidFill>
                    <a:srgbClr val="666666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ko-KR" altLang="en-US" sz="1400" i="1" dirty="0" smtClean="0">
                          <a:solidFill>
                            <a:srgbClr val="666666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ko-KR" altLang="en-US" sz="1400" i="0" dirty="0">
                          <a:solidFill>
                            <a:srgbClr val="66666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ko-KR" altLang="en-US" sz="1400" i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ko-KR" altLang="en-US" sz="1400" i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1400" i="1" dirty="0">
                                  <a:solidFill>
                                    <a:srgbClr val="6666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i="1" dirty="0">
                                  <a:solidFill>
                                    <a:srgbClr val="666666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ko-KR" altLang="en-US" sz="1400" i="0" dirty="0">
                                  <a:solidFill>
                                    <a:srgbClr val="666666"/>
                                  </a:solidFill>
                                  <a:latin typeface="Cambria Math" panose="02040503050406030204" pitchFamily="18" charset="0"/>
                                </a:rPr>
                                <m:t>local</m:t>
                              </m:r>
                            </m:sub>
                          </m:sSub>
                          <m:r>
                            <a:rPr lang="ko-KR" altLang="en-US" sz="1400" i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ko-KR" altLang="en-US" sz="1400" i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1400" i="1" dirty="0">
                                  <a:solidFill>
                                    <a:srgbClr val="6666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i="1" dirty="0">
                                  <a:solidFill>
                                    <a:srgbClr val="666666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ko-KR" altLang="en-US" sz="1400" i="0" dirty="0">
                                  <a:solidFill>
                                    <a:srgbClr val="666666"/>
                                  </a:solidFill>
                                  <a:latin typeface="Cambria Math" panose="02040503050406030204" pitchFamily="18" charset="0"/>
                                </a:rPr>
                                <m:t>full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400" dirty="0">
                  <a:solidFill>
                    <a:srgbClr val="666666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>
                  <a:spcAft>
                    <a:spcPts val="600"/>
                  </a:spcAft>
                </a:pPr>
                <a:endParaRPr lang="en-US" altLang="ko-KR" sz="1400" dirty="0">
                  <a:solidFill>
                    <a:srgbClr val="666666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altLang="ko-KR" sz="14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· </a:t>
                </a:r>
                <a:r>
                  <a:rPr lang="ko-KR" altLang="en-US" sz="14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sz="1400" b="0" i="1" dirty="0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, </a:t>
                </a:r>
                <a:r>
                  <a:rPr lang="ko-KR" altLang="en-US" sz="14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즉 가장 크게 틀어진 값</a:t>
                </a:r>
                <a:r>
                  <a:rPr lang="en-US" altLang="ko-KR" sz="1400" dirty="0">
                    <a:solidFill>
                      <a:srgbClr val="666666"/>
                    </a:solidFill>
                    <a:latin typeface="Arial"/>
                    <a:ea typeface="Malgun Gothic"/>
                    <a:cs typeface="Malgun Gothic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:endParaRPr lang="ko-KR" altLang="en-US" sz="1400" dirty="0">
                  <a:solidFill>
                    <a:srgbClr val="666666"/>
                  </a:solidFill>
                  <a:latin typeface="Arial"/>
                  <a:ea typeface="Malgun Gothic"/>
                  <a:cs typeface="Malgun Gothic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4EB0F5-C61D-630D-6DEB-430AD5EF3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825" y="2175945"/>
                <a:ext cx="3655295" cy="1477328"/>
              </a:xfrm>
              <a:prstGeom prst="rect">
                <a:avLst/>
              </a:prstGeom>
              <a:blipFill>
                <a:blip r:embed="rId4"/>
                <a:stretch>
                  <a:fillRect l="-500" t="-12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Validation ②: Exact Enumeration (L =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10</a:t>
            </a:r>
          </a:p>
        </p:txBody>
      </p:sp>
      <p:pic>
        <p:nvPicPr>
          <p:cNvPr id="4" name="Picture 3" descr="fig1_validation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306440"/>
            <a:ext cx="5221422" cy="32956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599" y="2172490"/>
            <a:ext cx="2926079" cy="126085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228600" algn="l">
              <a:spcAft>
                <a:spcPts val="800"/>
              </a:spcAft>
              <a:buChar char="•"/>
            </a:pPr>
            <a:r>
              <a:rPr sz="1300" b="1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엄밀해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=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가능한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배열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1,679,616개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전부의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볼츠만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평균</a:t>
            </a:r>
            <a:endParaRPr sz="13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marL="228600" indent="-228600" algn="l">
              <a:spcAft>
                <a:spcPts val="800"/>
              </a:spcAft>
              <a:buChar char="•"/>
            </a:pP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(MC −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엄밀해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)/SE</a:t>
            </a:r>
            <a:r>
              <a:rPr lang="en-US"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(</a:t>
            </a:r>
            <a:r>
              <a:rPr lang="ko-KR" altLang="en-US"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표준오차</a:t>
            </a:r>
            <a:r>
              <a:rPr lang="en-US" altLang="ko-KR"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)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→ </a:t>
            </a:r>
            <a:r>
              <a:rPr sz="1300" b="1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90%가 ±2 안</a:t>
            </a:r>
          </a:p>
          <a:p>
            <a:pPr marL="228600" indent="-228600" algn="l">
              <a:spcAft>
                <a:spcPts val="800"/>
              </a:spcAft>
              <a:buChar char="•"/>
            </a:pP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B = 0, 2 T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모두</a:t>
            </a:r>
            <a:r>
              <a:rPr sz="13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일치</a:t>
            </a:r>
            <a:endParaRPr sz="13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4823460"/>
            <a:ext cx="795527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L = 6은 </a:t>
            </a:r>
            <a:r>
              <a:rPr sz="10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배열</a:t>
            </a: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 약 10</a:t>
            </a:r>
            <a:r>
              <a:rPr sz="1000" b="0" baseline="3000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168</a:t>
            </a: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개라 </a:t>
            </a:r>
            <a:r>
              <a:rPr sz="10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직접</a:t>
            </a: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 합 </a:t>
            </a:r>
            <a:r>
              <a:rPr sz="10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불가</a:t>
            </a: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 → </a:t>
            </a:r>
            <a:r>
              <a:rPr sz="10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같은</a:t>
            </a: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 MC </a:t>
            </a:r>
            <a:r>
              <a:rPr sz="10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코드를</a:t>
            </a: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 L = 2에서 </a:t>
            </a:r>
            <a:r>
              <a:rPr sz="1000" b="0" dirty="0" err="1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검증</a:t>
            </a:r>
            <a:endParaRPr sz="10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D37ED-9716-E61A-A111-48836E434CE3}"/>
                  </a:ext>
                </a:extLst>
              </p:cNvPr>
              <p:cNvSpPr txBox="1"/>
              <p:nvPr/>
            </p:nvSpPr>
            <p:spPr>
              <a:xfrm>
                <a:off x="2286000" y="846088"/>
                <a:ext cx="3984171" cy="437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ko-KR" altLang="en-US" sz="140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ko-KR" altLang="en-US" sz="1400" i="0"/>
                            <m:t>MC로 얻은 평균값</m:t>
                          </m:r>
                          <m:limUpp>
                            <m:limUppPr>
                              <m:ctrlPr>
                                <a:rPr lang="ko-KR" altLang="en-US" sz="1400" i="0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ko-KR" altLang="en-US" sz="1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lim>
                              <m:r>
                                <a:rPr lang="ko-KR" altLang="en-US" sz="1400" i="0">
                                  <a:latin typeface="Cambria Math" panose="02040503050406030204" pitchFamily="18" charset="0"/>
                                </a:rPr>
                                <m:t>?</m:t>
                              </m:r>
                            </m:lim>
                          </m:limUpp>
                          <m:r>
                            <m:rPr>
                              <m:nor/>
                            </m:rPr>
                            <a:rPr lang="ko-KR" altLang="en-US" sz="1400" i="0"/>
                            <m:t>정확한 Boltzmann 평균</m:t>
                          </m:r>
                        </m:e>
                      </m:borderBox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D37ED-9716-E61A-A111-48836E434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846088"/>
                <a:ext cx="3984171" cy="4374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Result ①: AFM → FM Transition at B =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</a:t>
            </a:r>
            <a:r>
              <a:rPr lang="en-US"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</a:t>
            </a:r>
            <a:endParaRPr sz="10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</p:txBody>
      </p:sp>
      <p:pic>
        <p:nvPicPr>
          <p:cNvPr id="4" name="Picture 3" descr="fig2_order_vs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33839"/>
            <a:ext cx="6126480" cy="38644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280160"/>
            <a:ext cx="2468880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228600" algn="l">
              <a:spcAft>
                <a:spcPts val="1000"/>
              </a:spcAft>
              <a:buChar char="•"/>
            </a:pPr>
            <a:r>
              <a:rPr sz="1500" b="1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1500" b="1" baseline="-2500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1500" b="1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= 288 ± 1 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Result ②: Field Lowers T</a:t>
            </a:r>
            <a:r>
              <a:rPr sz="2600" b="1" baseline="-2500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</a:t>
            </a:r>
            <a:r>
              <a:rPr lang="en-US"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2</a:t>
            </a:r>
            <a:endParaRPr sz="10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2560320" cy="64530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228600" algn="l">
              <a:spcAft>
                <a:spcPts val="1000"/>
              </a:spcAft>
              <a:buChar char="•"/>
            </a:pPr>
            <a:r>
              <a:rPr sz="15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모델</a:t>
            </a:r>
            <a:r>
              <a:rPr lang="en-US" altLang="ko-KR" sz="15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:</a:t>
            </a:r>
            <a:r>
              <a:rPr sz="15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500" b="1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약 −24 K/T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sz="15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실험</a:t>
            </a:r>
            <a:r>
              <a:rPr sz="15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: </a:t>
            </a:r>
            <a:r>
              <a:rPr sz="1500" b="1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약 −8 K/T</a:t>
            </a:r>
          </a:p>
        </p:txBody>
      </p:sp>
      <p:pic>
        <p:nvPicPr>
          <p:cNvPr id="6" name="그림 5" descr="fig3_Tt_vs_B_mc_exp.png (2176×1428)">
            <a:extLst>
              <a:ext uri="{FF2B5EF4-FFF2-40B4-BE49-F238E27FC236}">
                <a16:creationId xmlns:a16="http://schemas.microsoft.com/office/drawing/2014/main" id="{425A577C-DE2B-101A-070A-625443382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5874992" cy="3855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Interpretation: Why Does the Field Lower T</a:t>
            </a:r>
            <a:r>
              <a:rPr sz="2600" b="1" baseline="-25000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</a:t>
            </a:r>
            <a:r>
              <a:rPr lang="en-US"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3</a:t>
            </a:r>
            <a:endParaRPr sz="10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</p:txBody>
      </p:sp>
      <p:pic>
        <p:nvPicPr>
          <p:cNvPr id="4" name="Picture 3" descr="s_free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58856"/>
            <a:ext cx="5120640" cy="36406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32120" y="876364"/>
                <a:ext cx="3429000" cy="2928302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marL="228600" indent="-228600" algn="l">
                  <a:spcAft>
                    <a:spcPts val="600"/>
                  </a:spcAft>
                  <a:buChar char="•"/>
                </a:pPr>
                <a:r>
                  <a:rPr lang="en-US" altLang="ko-KR" sz="1300" b="1" dirty="0">
                    <a:solidFill>
                      <a:srgbClr val="222222"/>
                    </a:solidFill>
                    <a:latin typeface="Arial"/>
                    <a:ea typeface="Malgun Gothic"/>
                    <a:cs typeface="Malgun Gothic"/>
                  </a:rPr>
                  <a:t>G = U − TS − BM</a:t>
                </a:r>
                <a:endParaRPr lang="ko-KR" altLang="en-US" sz="1300" b="0" dirty="0">
                  <a:solidFill>
                    <a:srgbClr val="222222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 marL="228600" indent="-228600" algn="l">
                  <a:spcAft>
                    <a:spcPts val="600"/>
                  </a:spcAft>
                  <a:buChar char="•"/>
                </a:pPr>
                <a:endParaRPr lang="ko-KR" altLang="en-US" sz="1300" dirty="0">
                  <a:solidFill>
                    <a:srgbClr val="222222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 marL="228600" indent="-228600" algn="l">
                  <a:spcAft>
                    <a:spcPts val="600"/>
                  </a:spcAft>
                  <a:buChar char="•"/>
                </a:pPr>
                <a:endParaRPr lang="ko-KR" altLang="en-US" sz="1300" b="0" dirty="0">
                  <a:solidFill>
                    <a:srgbClr val="222222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 algn="l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𝑑𝐺</m:t>
                      </m:r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=−</m:t>
                      </m:r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𝑆𝑑𝑇</m:t>
                      </m:r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−</m:t>
                      </m:r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𝑀𝑑𝐵</m:t>
                      </m:r>
                    </m:oMath>
                  </m:oMathPara>
                </a14:m>
                <a:endParaRPr lang="en-US" sz="1300" b="0" dirty="0">
                  <a:solidFill>
                    <a:srgbClr val="222222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 algn="l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</m:ctrlPr>
                        </m:sSubPr>
                        <m:e>
                          <m: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  <m:t>𝐺</m:t>
                          </m:r>
                        </m:e>
                        <m:sub>
                          <m: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  <m:t>𝐹𝑀</m:t>
                          </m:r>
                        </m:sub>
                      </m:sSub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=</m:t>
                      </m:r>
                      <m:sSub>
                        <m:sSubPr>
                          <m:ctrlP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</m:ctrlPr>
                        </m:sSubPr>
                        <m:e>
                          <m: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  <m:t>𝐺</m:t>
                          </m:r>
                        </m:e>
                        <m:sub>
                          <m: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  <m:t>𝐴𝐹𝑀</m:t>
                          </m:r>
                        </m:sub>
                      </m:sSub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⇒</m:t>
                      </m:r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𝑑</m:t>
                      </m:r>
                      <m:d>
                        <m:dPr>
                          <m:ctrlP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</m:ctrlPr>
                        </m:dPr>
                        <m:e>
                          <m: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  <m:t>∆</m:t>
                          </m:r>
                          <m: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  <m:t>𝐺</m:t>
                          </m:r>
                        </m:e>
                      </m:d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Malgun Gothic"/>
                        </a:rPr>
                        <m:t>=0</m:t>
                      </m:r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 </m:t>
                      </m:r>
                    </m:oMath>
                  </m:oMathPara>
                </a14:m>
                <a:endParaRPr lang="en-US" sz="1300" b="0" dirty="0">
                  <a:solidFill>
                    <a:srgbClr val="222222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Malgun Gothic"/>
                        </a:rPr>
                        <m:t>−∆</m:t>
                      </m:r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Malgun Gothic"/>
                        </a:rPr>
                        <m:t>𝑆𝑑</m:t>
                      </m:r>
                      <m:sSub>
                        <m:sSubPr>
                          <m:ctrlP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</m:ctrlPr>
                        </m:sSubPr>
                        <m:e>
                          <m: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  <m:t>𝑇</m:t>
                          </m:r>
                        </m:e>
                        <m:sub>
                          <m:r>
                            <a:rPr lang="en-US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  <m:t>𝑡</m:t>
                          </m:r>
                        </m:sub>
                      </m:sSub>
                      <m:r>
                        <a:rPr lang="en-US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Malgun Gothic"/>
                        </a:rPr>
                        <m:t>−</m:t>
                      </m:r>
                      <m:r>
                        <a:rPr lang="en-US" altLang="ko-KR" sz="1300" i="1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Malgun Gothic"/>
                        </a:rPr>
                        <m:t>∆</m:t>
                      </m:r>
                      <m:r>
                        <a:rPr lang="en-US" altLang="ko-KR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Malgun Gothic"/>
                        </a:rPr>
                        <m:t>𝑀𝑑𝐵</m:t>
                      </m:r>
                      <m:r>
                        <a:rPr lang="en-US" altLang="ko-KR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Malgun Gothic"/>
                        </a:rPr>
                        <m:t>=0</m:t>
                      </m:r>
                    </m:oMath>
                  </m:oMathPara>
                </a14:m>
                <a:endParaRPr lang="en-US" altLang="ko-KR" sz="1300" b="0" dirty="0">
                  <a:solidFill>
                    <a:srgbClr val="222222"/>
                  </a:solidFill>
                  <a:latin typeface="Arial"/>
                  <a:ea typeface="Cambria Math" panose="02040503050406030204" pitchFamily="18" charset="0"/>
                  <a:cs typeface="Malgun Gothic"/>
                </a:endParaRPr>
              </a:p>
              <a:p>
                <a:pPr>
                  <a:spcAft>
                    <a:spcPts val="600"/>
                  </a:spcAft>
                </a:pPr>
                <a:endParaRPr lang="en-US" sz="1300" b="0" dirty="0">
                  <a:solidFill>
                    <a:srgbClr val="222222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 algn="l">
                  <a:spcAft>
                    <a:spcPts val="600"/>
                  </a:spcAft>
                </a:pPr>
                <a:endParaRPr lang="ko-KR" altLang="en-US" sz="1300" dirty="0">
                  <a:solidFill>
                    <a:srgbClr val="222222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</m:ctrlPr>
                        </m:fPr>
                        <m:num>
                          <m:r>
                            <a:rPr lang="en-US" altLang="ko-KR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13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  <a:ea typeface="Malgun Gothic"/>
                                  <a:cs typeface="Malgun Gothic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  <a:ea typeface="Malgun Gothic"/>
                                  <a:cs typeface="Malgun Gothic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13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  <a:ea typeface="Malgun Gothic"/>
                                  <a:cs typeface="Malgun Gothic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  <m:t>𝑑𝐵</m:t>
                          </m:r>
                        </m:den>
                      </m:f>
                      <m:r>
                        <a:rPr lang="en-US" altLang="ko-KR" sz="13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Malgun Gothic"/>
                          <a:cs typeface="Malgun Gothic"/>
                        </a:rPr>
                        <m:t>=−</m:t>
                      </m:r>
                      <m:f>
                        <m:fPr>
                          <m:ctrlPr>
                            <a:rPr lang="en-US" altLang="ko-KR" sz="1300" i="1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</m:ctrlPr>
                        </m:fPr>
                        <m:num>
                          <m:r>
                            <a:rPr lang="en-US" altLang="ko-KR" sz="1300" i="1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  <m:t>∆</m:t>
                          </m:r>
                          <m:r>
                            <a:rPr lang="en-US" altLang="ko-KR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Malgun Gothic"/>
                              <a:cs typeface="Malgun Gothic"/>
                            </a:rPr>
                            <m:t>𝑀</m:t>
                          </m:r>
                        </m:num>
                        <m:den>
                          <m:r>
                            <a:rPr lang="en-US" altLang="ko-KR" sz="1300" i="1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  <m:t>∆</m:t>
                          </m:r>
                          <m:r>
                            <a:rPr lang="en-US" altLang="ko-KR" sz="13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lgun Gothic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ko-KR" altLang="en-US" sz="1300" b="0" dirty="0">
                  <a:solidFill>
                    <a:srgbClr val="222222"/>
                  </a:solidFill>
                  <a:latin typeface="Arial"/>
                  <a:ea typeface="Malgun Gothic"/>
                  <a:cs typeface="Malgun Gothic"/>
                </a:endParaRPr>
              </a:p>
              <a:p>
                <a:pPr algn="l">
                  <a:spcAft>
                    <a:spcPts val="600"/>
                  </a:spcAft>
                </a:pPr>
                <a:endParaRPr lang="ko-KR" altLang="en-US" sz="1300" b="0" dirty="0">
                  <a:solidFill>
                    <a:srgbClr val="222222"/>
                  </a:solidFill>
                  <a:latin typeface="Arial"/>
                  <a:ea typeface="Malgun Gothic"/>
                  <a:cs typeface="Malgun Gothic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120" y="876364"/>
                <a:ext cx="3429000" cy="2928302"/>
              </a:xfrm>
              <a:prstGeom prst="rect">
                <a:avLst/>
              </a:prstGeom>
              <a:blipFill>
                <a:blip r:embed="rId4"/>
                <a:stretch>
                  <a:fillRect l="-1423" t="-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Interpretation: Why Is the Curve Not Straight?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</a:t>
            </a:r>
            <a:r>
              <a:rPr lang="en-US"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4</a:t>
            </a:r>
            <a:endParaRPr sz="10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372599"/>
              </p:ext>
            </p:extLst>
          </p:nvPr>
        </p:nvGraphicFramePr>
        <p:xfrm>
          <a:off x="411480" y="3744481"/>
          <a:ext cx="8001000" cy="1067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2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9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모양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91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0 – 0.5 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평평함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자기장이 아직 너무 약해</a:t>
                      </a:r>
                      <a:r>
                        <a:rPr lang="en-US" altLang="ko-KR"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, FM</a:t>
                      </a:r>
                      <a:r>
                        <a:rPr lang="ko-KR" altLang="en-US"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방향을 잡아주지 못한 상태</a:t>
                      </a:r>
                      <a:endParaRPr sz="1200" b="0" dirty="0">
                        <a:solidFill>
                          <a:srgbClr val="222222"/>
                        </a:solidFill>
                        <a:latin typeface="Arial"/>
                        <a:ea typeface="Malgun Gothic"/>
                        <a:cs typeface="Malgun Gothi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91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0.5 – 2 T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거의 직선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ΔU, ΔS, </a:t>
                      </a:r>
                      <a:r>
                        <a:rPr sz="12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ΔM이</a:t>
                      </a:r>
                      <a:r>
                        <a:rPr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거의</a:t>
                      </a:r>
                      <a:r>
                        <a:rPr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일정</a:t>
                      </a:r>
                      <a:r>
                        <a:rPr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→ 식 </a:t>
                      </a:r>
                      <a:r>
                        <a:rPr sz="12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그대로</a:t>
                      </a:r>
                      <a:r>
                        <a:rPr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(약 −24 K/T)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91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2 T 이상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더 가파름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ΔS가</a:t>
                      </a:r>
                      <a:r>
                        <a:rPr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크게 </a:t>
                      </a:r>
                      <a:r>
                        <a:rPr sz="12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줄어듦</a:t>
                      </a:r>
                      <a:r>
                        <a:rPr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2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추정</a:t>
                      </a:r>
                      <a:r>
                        <a:rPr sz="12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그림 5" descr="fig3a_Tt_vs_B_regions.png (1726×1310)">
            <a:extLst>
              <a:ext uri="{FF2B5EF4-FFF2-40B4-BE49-F238E27FC236}">
                <a16:creationId xmlns:a16="http://schemas.microsoft.com/office/drawing/2014/main" id="{A9F22243-C7B9-F92A-0637-EF0D0088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658" y="792992"/>
            <a:ext cx="3807763" cy="28900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</a:t>
            </a:r>
            <a:r>
              <a:rPr lang="en-US"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5</a:t>
            </a:r>
            <a:endParaRPr sz="10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841027"/>
              </p:ext>
            </p:extLst>
          </p:nvPr>
        </p:nvGraphicFramePr>
        <p:xfrm>
          <a:off x="548640" y="1051560"/>
          <a:ext cx="80467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영향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실험보다 기울기 약 3배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(−24 vs −8 K/T)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스핀만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있는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모델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→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전자·격자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엔트로피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고려하지 않음</a:t>
                      </a:r>
                      <a:endParaRPr sz="1300" b="0" dirty="0">
                        <a:solidFill>
                          <a:srgbClr val="222222"/>
                        </a:solidFill>
                        <a:latin typeface="Arial"/>
                        <a:ea typeface="Malgun Gothic"/>
                        <a:cs typeface="Malgun Gothi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작은 격자 (L ≤ 8)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L = 8 가열에서 갇힘 · L ≥ 10 미확인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높은 자기장 (&gt; 2 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더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가파른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이유는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추정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단계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(ΔS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감소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Arial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</a:t>
            </a:r>
            <a:r>
              <a:rPr lang="en-US" sz="1000" b="0" dirty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6</a:t>
            </a:r>
            <a:endParaRPr sz="1000" b="0" dirty="0">
              <a:solidFill>
                <a:srgbClr val="666666"/>
              </a:solidFill>
              <a:latin typeface="Arial"/>
              <a:ea typeface="Malgun Gothic"/>
              <a:cs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868680"/>
            <a:ext cx="8321040" cy="1280160"/>
          </a:xfrm>
          <a:prstGeom prst="roundRect">
            <a:avLst>
              <a:gd name="adj" fmla="val 12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자기장은 FM에만 에너지 이득을 줘서 T</a:t>
            </a:r>
            <a:r>
              <a:rPr sz="1800" b="0" baseline="-2500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1800" b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를 낮춘다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크기 = ΔM / ΔS  →  이 모델에서 1 T당 약 24 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450591"/>
            <a:ext cx="72237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빠진 엔트로피(전자·격자) 추가 → 실험(−8 K/T)에 가까워지는가?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136391"/>
            <a:ext cx="502920" cy="502920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241612"/>
            <a:ext cx="722376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더 </a:t>
            </a:r>
            <a:r>
              <a:rPr sz="16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좋은</a:t>
            </a:r>
            <a:r>
              <a:rPr sz="16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샘플링</a:t>
            </a:r>
            <a:r>
              <a:rPr sz="16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→ L ≥ 10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849624"/>
            <a:ext cx="502920" cy="502920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954845"/>
            <a:ext cx="722376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박막</a:t>
            </a:r>
            <a:r>
              <a:rPr sz="16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효과</a:t>
            </a:r>
            <a:r>
              <a:rPr sz="16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(</a:t>
            </a:r>
            <a:r>
              <a:rPr sz="16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변형·두께</a:t>
            </a:r>
            <a:r>
              <a:rPr sz="16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) → </a:t>
            </a:r>
            <a:r>
              <a:rPr lang="ko-KR" altLang="en-US" sz="160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실제 데이터와 비교</a:t>
            </a:r>
            <a:endParaRPr sz="16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8321040" cy="16789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[1] M. E. Gruner, E. Hoffmann, P. Entel, Phys. Rev. B 67, 064415 (2003) —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모델과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매개변수</a:t>
            </a:r>
            <a:endParaRPr sz="11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[2] S. Maat, J.-U. Thiele, E. E. Fullerton, Phys. Rev. B 72, 214432 (2005) —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실험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dT</a:t>
            </a:r>
            <a:r>
              <a:rPr sz="1100" b="0" baseline="-2500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t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/dB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[3] J. S.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Kouvel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, C. C. Hartelius, J. Appl. Phys. 33, 1343 (1962) —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벌크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FeRh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전이</a:t>
            </a:r>
            <a:endParaRPr sz="11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[4] N. Metropolis et al., J. Chem. Phys. 21, 1087 (1953) — Metropolis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알고리즘</a:t>
            </a:r>
            <a:endParaRPr sz="11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[5] W. K. Hastings,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Biometrika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57, 97 (1970) —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일반화된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제안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방식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(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집단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이동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[6] C. J. Lewis, C. H. Marrows, S. Langridge, J. Phys. D 49, 323002 (2016) —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FeRh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리뷰</a:t>
            </a:r>
            <a:endParaRPr sz="11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[7] J. A. Cooke et al., Phys. Rev. Lett. 109, 255901 (2012) —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전이의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열역학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측정</a:t>
            </a:r>
            <a:endParaRPr sz="11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[8] J. Barker, R. W. Chantrell, Phys. Rev. B 92, 094402 (2015) —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Heisenberg형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FeRh</a:t>
            </a:r>
            <a:r>
              <a:rPr sz="1100" b="0" dirty="0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Arial"/>
                <a:ea typeface="Malgun Gothic"/>
                <a:cs typeface="Malgun Gothic"/>
              </a:rPr>
              <a:t>모델</a:t>
            </a:r>
            <a:endParaRPr sz="1100" b="0" dirty="0">
              <a:solidFill>
                <a:srgbClr val="222222"/>
              </a:solidFill>
              <a:latin typeface="Arial"/>
              <a:ea typeface="Malgun Gothic"/>
              <a:cs typeface="Malgun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B73"/>
                </a:solidFill>
                <a:latin typeface="Arial"/>
                <a:ea typeface="Malgun Gothic"/>
                <a:cs typeface="Malgun Gothic"/>
              </a:rPr>
              <a:t>Q&amp;A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2658</Words>
  <Application>Microsoft Office PowerPoint</Application>
  <PresentationFormat>화면 슬라이드 쇼(16:9)</PresentationFormat>
  <Paragraphs>254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맑은 고딕</vt:lpstr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주우 박</cp:lastModifiedBy>
  <cp:revision>14</cp:revision>
  <dcterms:created xsi:type="dcterms:W3CDTF">2013-01-27T09:14:16Z</dcterms:created>
  <dcterms:modified xsi:type="dcterms:W3CDTF">2026-10-15T11:36:35Z</dcterms:modified>
  <cp:category/>
</cp:coreProperties>
</file>